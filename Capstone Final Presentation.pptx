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Lexend ExtraBold"/>
      <p:bold r:id="rId15"/>
    </p:embeddedFont>
    <p:embeddedFont>
      <p:font typeface="Lexend SemiBold"/>
      <p:regular r:id="rId16"/>
      <p:bold r:id="rId17"/>
    </p:embeddedFont>
    <p:embeddedFont>
      <p:font typeface="Lexend Light"/>
      <p:regular r:id="rId18"/>
      <p:bold r:id="rId19"/>
    </p:embeddedFont>
    <p:embeddedFont>
      <p:font typeface="Nunito"/>
      <p:regular r:id="rId20"/>
      <p:bold r:id="rId21"/>
      <p:italic r:id="rId22"/>
      <p:boldItalic r:id="rId23"/>
    </p:embeddedFont>
    <p:embeddedFont>
      <p:font typeface="Lexend Medium"/>
      <p:regular r:id="rId24"/>
      <p:bold r:id="rId25"/>
    </p:embeddedFont>
    <p:embeddedFont>
      <p:font typeface="Lexen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unito-regular.fntdata"/><Relationship Id="rId22" Type="http://schemas.openxmlformats.org/officeDocument/2006/relationships/font" Target="fonts/Nunito-italic.fntdata"/><Relationship Id="rId21" Type="http://schemas.openxmlformats.org/officeDocument/2006/relationships/font" Target="fonts/Nunito-bold.fntdata"/><Relationship Id="rId24" Type="http://schemas.openxmlformats.org/officeDocument/2006/relationships/font" Target="fonts/LexendMedium-regular.fntdata"/><Relationship Id="rId23" Type="http://schemas.openxmlformats.org/officeDocument/2006/relationships/font" Target="fonts/Nuni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exend-regular.fntdata"/><Relationship Id="rId25" Type="http://schemas.openxmlformats.org/officeDocument/2006/relationships/font" Target="fonts/LexendMedium-bold.fntdata"/><Relationship Id="rId27" Type="http://schemas.openxmlformats.org/officeDocument/2006/relationships/font" Target="fonts/Lexend-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LexendExtraBold-bold.fntdata"/><Relationship Id="rId14" Type="http://schemas.openxmlformats.org/officeDocument/2006/relationships/slide" Target="slides/slide10.xml"/><Relationship Id="rId17" Type="http://schemas.openxmlformats.org/officeDocument/2006/relationships/font" Target="fonts/LexendSemiBold-bold.fntdata"/><Relationship Id="rId16" Type="http://schemas.openxmlformats.org/officeDocument/2006/relationships/font" Target="fonts/LexendSemiBold-regular.fntdata"/><Relationship Id="rId19" Type="http://schemas.openxmlformats.org/officeDocument/2006/relationships/font" Target="fonts/LexendLight-bold.fntdata"/><Relationship Id="rId18" Type="http://schemas.openxmlformats.org/officeDocument/2006/relationships/font" Target="fonts/Lexend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“We’ll take the wheel on this one.”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c8b7175904_3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c8b7175904_3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400"/>
              <a:t>Product Introduction</a:t>
            </a:r>
            <a:endParaRPr i="1" sz="1400"/>
          </a:p>
          <a:p>
            <a:pPr indent="0" lvl="0" marL="0" rtl="0" algn="l">
              <a:spcBef>
                <a:spcPts val="0"/>
              </a:spcBef>
              <a:spcAft>
                <a:spcPts val="0"/>
              </a:spcAft>
              <a:buNone/>
            </a:pPr>
            <a:r>
              <a:rPr i="1" lang="en" sz="1400"/>
              <a:t>1-2 Minutes</a:t>
            </a:r>
            <a:br>
              <a:rPr lang="en"/>
            </a:br>
            <a:br>
              <a:rPr lang="en"/>
            </a:br>
            <a:r>
              <a:rPr lang="en" sz="1300">
                <a:solidFill>
                  <a:schemeClr val="dk1"/>
                </a:solidFill>
              </a:rPr>
              <a:t>We will give you recommendations based on you. Input your preferences into our engine and it will give you personalized options for what you’re looking for. For now our engine has books, however in the future there will be more options to choose from. We want to be able to help alleviate the burden of choice from those who struggle to choose, to help streamline people's lives and let them enjoy whatever free time they have. </a:t>
            </a:r>
            <a:endParaRPr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c8a4fac3d5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c8a4fac3d5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Lexend"/>
                <a:ea typeface="Lexend"/>
                <a:cs typeface="Lexend"/>
                <a:sym typeface="Lexend"/>
              </a:rPr>
              <a:t>HOW IT WORKS</a:t>
            </a:r>
            <a:br>
              <a:rPr lang="en" sz="1200">
                <a:solidFill>
                  <a:schemeClr val="dk1"/>
                </a:solidFill>
                <a:latin typeface="Lexend"/>
                <a:ea typeface="Lexend"/>
                <a:cs typeface="Lexend"/>
                <a:sym typeface="Lexend"/>
              </a:rPr>
            </a:br>
            <a:r>
              <a:rPr lang="en" sz="1200">
                <a:solidFill>
                  <a:schemeClr val="dk1"/>
                </a:solidFill>
                <a:latin typeface="Lexend"/>
                <a:ea typeface="Lexend"/>
                <a:cs typeface="Lexend"/>
                <a:sym typeface="Lexend"/>
              </a:rPr>
              <a:t>(1-2 MINUTES)</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a:p>
          <a:p>
            <a:pPr indent="0" lvl="0" marL="0" rtl="0" algn="l">
              <a:spcBef>
                <a:spcPts val="0"/>
              </a:spcBef>
              <a:spcAft>
                <a:spcPts val="0"/>
              </a:spcAft>
              <a:buNone/>
            </a:pPr>
            <a:r>
              <a:rPr lang="en"/>
              <a:t>SCRIPT </a:t>
            </a:r>
            <a:endParaRPr/>
          </a:p>
          <a:p>
            <a:pPr indent="0" lvl="0" marL="0" rtl="0" algn="l">
              <a:spcBef>
                <a:spcPts val="0"/>
              </a:spcBef>
              <a:spcAft>
                <a:spcPts val="0"/>
              </a:spcAft>
              <a:buNone/>
            </a:pPr>
            <a:r>
              <a:rPr b="1" lang="en"/>
              <a:t>(</a:t>
            </a:r>
            <a:r>
              <a:rPr b="1" lang="en" sz="700"/>
              <a:t>AFTER READING THE SLIDE</a:t>
            </a:r>
            <a:r>
              <a:rPr b="1" lang="en"/>
              <a:t>): </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en" sz="1300"/>
              <a:t>It’s designed to simplify the way people make decisions online. Instead of overwhelming users with endless options, this platform focuses on guiding them towards a smaller number of meaningful, relevant choices. Specifically when it comes to finding their next reading adventure. </a:t>
            </a:r>
            <a:br>
              <a:rPr lang="en" sz="1300"/>
            </a:br>
            <a:br>
              <a:rPr lang="en" sz="1300"/>
            </a:br>
            <a:r>
              <a:rPr b="1" lang="en" sz="1300"/>
              <a:t>We designed STEERED based on three core principles:</a:t>
            </a:r>
            <a:br>
              <a:rPr lang="en" sz="1300"/>
            </a:br>
            <a:r>
              <a:rPr lang="en" sz="1300"/>
              <a:t>- 1. Minimal distraction </a:t>
            </a:r>
            <a:br>
              <a:rPr lang="en" sz="1300"/>
            </a:br>
            <a:r>
              <a:rPr lang="en" sz="1300"/>
              <a:t>- 2. Preferential context </a:t>
            </a:r>
            <a:endParaRPr sz="1300"/>
          </a:p>
          <a:p>
            <a:pPr indent="0" lvl="0" marL="0" rtl="0" algn="l">
              <a:spcBef>
                <a:spcPts val="0"/>
              </a:spcBef>
              <a:spcAft>
                <a:spcPts val="0"/>
              </a:spcAft>
              <a:buNone/>
            </a:pPr>
            <a:r>
              <a:rPr lang="en" sz="1300"/>
              <a:t>- 3.  And, open source code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To promote better focus,</a:t>
            </a:r>
            <a:r>
              <a:rPr lang="en" sz="1300">
                <a:solidFill>
                  <a:schemeClr val="dk1"/>
                </a:solidFill>
              </a:rPr>
              <a:t> everything was made to be simple and clean, including the lack of ads, pop-ups, and busy UI. This was so that users could browse without feeling overwhelmed or bombarded with too many choices. In addition, we wanted STEERED to function past book titles and product names, so we enhanced results with custom notes, genres, and previews to help users actually understand their options. Lastly, by using OpenLibrary data, the platform stays transparent, accessible (free!), and grounded in real, public information. </a:t>
            </a:r>
            <a:endParaRPr sz="1300">
              <a:solidFill>
                <a:schemeClr val="dk1"/>
              </a:solidFill>
            </a:endParaRPr>
          </a:p>
          <a:p>
            <a:pPr indent="0" lvl="0" marL="0" rtl="0" algn="l">
              <a:spcBef>
                <a:spcPts val="0"/>
              </a:spcBef>
              <a:spcAft>
                <a:spcPts val="0"/>
              </a:spcAft>
              <a:buNone/>
            </a:pPr>
            <a:br>
              <a:rPr lang="en" sz="1300">
                <a:solidFill>
                  <a:schemeClr val="dk1"/>
                </a:solidFill>
              </a:rPr>
            </a:br>
            <a:r>
              <a:rPr lang="en" sz="1300">
                <a:solidFill>
                  <a:schemeClr val="dk1"/>
                </a:solidFill>
              </a:rPr>
              <a:t>So, with this foundation in mind, let’s take a look at how our features actually work…</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We have our preview interface, which allows you to view a book’s metadata, author, and book cover without leaving the site.</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Our discovery engine which is designed to display genre filters, book descriptions, and recommend stories in a calm and refined layout.</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Users can use our bookmarks feature to save books to their profile for later reading. Our bookmarks tab puts titles into a clean, organized list.</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en" sz="1300">
                <a:solidFill>
                  <a:schemeClr val="dk1"/>
                </a:solidFill>
              </a:rPr>
              <a:t> </a:t>
            </a:r>
            <a:br>
              <a:rPr lang="en" sz="1300">
                <a:solidFill>
                  <a:schemeClr val="dk1"/>
                </a:solidFill>
              </a:rPr>
            </a:br>
            <a:endParaRPr sz="1300">
              <a:solidFill>
                <a:schemeClr val="dk1"/>
              </a:solidFill>
            </a:endParaRPr>
          </a:p>
          <a:p>
            <a:pPr indent="0" lvl="0" marL="0" rtl="0" algn="l">
              <a:spcBef>
                <a:spcPts val="0"/>
              </a:spcBef>
              <a:spcAft>
                <a:spcPts val="0"/>
              </a:spcAft>
              <a:buNone/>
            </a:pPr>
            <a:r>
              <a:rPr lang="en" sz="1300"/>
              <a:t>Now we’re going to walk through how a user would actually use Steered in a real scenario.</a:t>
            </a:r>
            <a:endParaRPr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a2ee60ce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a2ee60ce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400"/>
              <a:t>LANDING PAGE / HOMEPAGE</a:t>
            </a:r>
            <a:br>
              <a:rPr i="1" lang="en" sz="1400"/>
            </a:br>
            <a:endParaRPr i="1" sz="1400"/>
          </a:p>
          <a:p>
            <a:pPr indent="0" lvl="0" marL="0" rtl="0" algn="l">
              <a:spcBef>
                <a:spcPts val="0"/>
              </a:spcBef>
              <a:spcAft>
                <a:spcPts val="0"/>
              </a:spcAft>
              <a:buNone/>
            </a:pPr>
            <a:r>
              <a:rPr lang="en" sz="1400"/>
              <a:t>As soon as the user enters the platform, they’re given a clean, simple interface with a few clear basic genres– like fiction, sci-fi, and romance.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Instead of </a:t>
            </a:r>
            <a:r>
              <a:rPr lang="en" sz="1400"/>
              <a:t>overwhelming</a:t>
            </a:r>
            <a:r>
              <a:rPr lang="en" sz="1400"/>
              <a:t> them with options right away, we guide them to start with a focused search.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For this example, let’s say the user is looking for a new book…</a:t>
            </a:r>
            <a:br>
              <a:rPr lang="en" sz="1300"/>
            </a:br>
            <a:endParaRPr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f5fa7c84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f5fa7c84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400"/>
              <a:t>Find exactly what you’re looking for:</a:t>
            </a:r>
            <a:endParaRPr i="1" sz="1400"/>
          </a:p>
          <a:p>
            <a:pPr indent="0" lvl="0" marL="0" rtl="0" algn="l">
              <a:spcBef>
                <a:spcPts val="0"/>
              </a:spcBef>
              <a:spcAft>
                <a:spcPts val="0"/>
              </a:spcAft>
              <a:buNone/>
            </a:pPr>
            <a:br>
              <a:rPr i="1" lang="en" sz="1400"/>
            </a:br>
            <a:r>
              <a:rPr lang="en" sz="1300">
                <a:solidFill>
                  <a:schemeClr val="dk1"/>
                </a:solidFill>
              </a:rPr>
              <a:t>Simply go to your account profile and select the things that interest you, or what doesn’t, and you’re on your way to finding your next favorite read.</a:t>
            </a:r>
            <a:endParaRPr sz="1300">
              <a:solidFill>
                <a:schemeClr val="dk1"/>
              </a:solidFill>
            </a:endParaRPr>
          </a:p>
          <a:p>
            <a:pPr indent="0" lvl="0" marL="0" rtl="0" algn="l">
              <a:spcBef>
                <a:spcPts val="0"/>
              </a:spcBef>
              <a:spcAft>
                <a:spcPts val="0"/>
              </a:spcAft>
              <a:buNone/>
            </a:pPr>
            <a:br>
              <a:rPr lang="en" sz="1400"/>
            </a:br>
            <a:r>
              <a:rPr lang="en" sz="1400"/>
              <a:t>Rather than scrolling through hundreds of results, guessing genres, or remembering author names, the user can also search by simply using a theme (like ‘cozy’ or ‘mystery’).</a:t>
            </a:r>
            <a:endParaRPr sz="1400"/>
          </a:p>
          <a:p>
            <a:pPr indent="0" lvl="0" marL="0" rtl="0" algn="l">
              <a:spcBef>
                <a:spcPts val="0"/>
              </a:spcBef>
              <a:spcAft>
                <a:spcPts val="0"/>
              </a:spcAft>
              <a:buNone/>
            </a:pPr>
            <a:r>
              <a:t/>
            </a:r>
            <a:endParaRPr i="1" sz="1400"/>
          </a:p>
          <a:p>
            <a:pPr indent="0" lvl="0" marL="0" rtl="0" algn="l">
              <a:spcBef>
                <a:spcPts val="0"/>
              </a:spcBef>
              <a:spcAft>
                <a:spcPts val="0"/>
              </a:spcAft>
              <a:buNone/>
            </a:pPr>
            <a:r>
              <a:rPr lang="en" sz="1300"/>
              <a:t>This is where Steered helps reduce decision overload, by narrowing results to something more intentional for it users. S</a:t>
            </a:r>
            <a:r>
              <a:rPr lang="en" sz="1300"/>
              <a:t>earching an endless library can be daunting, but with Steered you can pick filters to find what genres you want, authors you like, and even ignore the genres you aren’t looking for. Our engine does all of the work for you, not only saving you time but getting rid of that overwhelming feeling that comes with looking through nearly endless options. And to make sure everything is secure, we included session-based authentication, so user data like saved </a:t>
            </a:r>
            <a:r>
              <a:rPr lang="en" sz="1300"/>
              <a:t>books and preferences can be preserved.</a:t>
            </a:r>
            <a:br>
              <a:rPr lang="en" sz="1300"/>
            </a:br>
            <a:br>
              <a:rPr lang="en" sz="1300"/>
            </a:br>
            <a:r>
              <a:rPr lang="en" sz="1300"/>
              <a:t>Over time, the platform becomes more personalized so that users can set preferences made beforehand like favorite reading themes and categories to avoids, directly influencing future recommendations.</a:t>
            </a:r>
            <a:endParaRPr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bc73c168d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dbc73c168d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400"/>
              <a:t>See what’s trending:</a:t>
            </a:r>
            <a:endParaRPr i="1" sz="1400"/>
          </a:p>
          <a:p>
            <a:pPr indent="0" lvl="0" marL="0" rtl="0" algn="l">
              <a:spcBef>
                <a:spcPts val="0"/>
              </a:spcBef>
              <a:spcAft>
                <a:spcPts val="0"/>
              </a:spcAft>
              <a:buNone/>
            </a:pPr>
            <a:r>
              <a:t/>
            </a:r>
            <a:endParaRPr i="1" sz="1400"/>
          </a:p>
          <a:p>
            <a:pPr indent="0" lvl="0" marL="0" rtl="0" algn="l">
              <a:spcBef>
                <a:spcPts val="0"/>
              </a:spcBef>
              <a:spcAft>
                <a:spcPts val="0"/>
              </a:spcAft>
              <a:buNone/>
            </a:pPr>
            <a:r>
              <a:rPr lang="en" sz="1400"/>
              <a:t>Now, instead of a long, overwhelming list, the user gets a smaller set of curated options from their Discovery page. Each result includes not just metadata, but also helpful context like summaries, genres, or notes. This can quickly understand what each option offers.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If something stands out, the user can save it for later to avoid losing good options and keeps their decision process organized.</a:t>
            </a:r>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f5fa7c84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bf5fa7c84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400"/>
              <a:t>Save your finds:</a:t>
            </a:r>
            <a:endParaRPr i="1" sz="1400"/>
          </a:p>
          <a:p>
            <a:pPr indent="0" lvl="0" marL="0" rtl="0" algn="l">
              <a:spcBef>
                <a:spcPts val="0"/>
              </a:spcBef>
              <a:spcAft>
                <a:spcPts val="0"/>
              </a:spcAft>
              <a:buNone/>
            </a:pPr>
            <a:r>
              <a:rPr lang="en" sz="1300"/>
              <a:t>Like what you see? Save it to your bookmarks to find it later. </a:t>
            </a:r>
            <a:br>
              <a:rPr lang="en" sz="1300"/>
            </a:br>
            <a:br>
              <a:rPr lang="en" sz="1300"/>
            </a:br>
            <a:r>
              <a:rPr lang="en" sz="1300"/>
              <a:t>This is important because one of the biggest problems with decision-making online is losing track of good options. Instead of reopening tabs or starting over, everything is stored in one place. </a:t>
            </a:r>
            <a:br>
              <a:rPr lang="en" sz="1300"/>
            </a:br>
            <a:endParaRPr sz="1300"/>
          </a:p>
          <a:p>
            <a:pPr indent="0" lvl="0" marL="0" rtl="0" algn="l">
              <a:spcBef>
                <a:spcPts val="0"/>
              </a:spcBef>
              <a:spcAft>
                <a:spcPts val="0"/>
              </a:spcAft>
              <a:buNone/>
            </a:pPr>
            <a:r>
              <a:rPr lang="en" sz="1300"/>
              <a:t>All of your books will be in one place allowing you to curate a list of titles that you can enjoy. Once you finish a book you can give it a rating or leave a comment so that other Steered users can know what you think of it, creating a great community of readers who want to find their next favorite book, or know what to avoid. </a:t>
            </a:r>
            <a:endParaRPr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ca2ee60ce5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ca2ee60ce5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400"/>
              <a:t>Create your account:</a:t>
            </a:r>
            <a:endParaRPr i="1" sz="1400"/>
          </a:p>
          <a:p>
            <a:pPr indent="0" lvl="0" marL="0" rtl="0" algn="l">
              <a:spcBef>
                <a:spcPts val="0"/>
              </a:spcBef>
              <a:spcAft>
                <a:spcPts val="0"/>
              </a:spcAft>
              <a:buNone/>
            </a:pPr>
            <a:r>
              <a:t/>
            </a:r>
            <a:endParaRPr i="1" sz="1400"/>
          </a:p>
          <a:p>
            <a:pPr indent="0" lvl="0" marL="0" rtl="0" algn="l">
              <a:spcBef>
                <a:spcPts val="0"/>
              </a:spcBef>
              <a:spcAft>
                <a:spcPts val="0"/>
              </a:spcAft>
              <a:buNone/>
            </a:pPr>
            <a:r>
              <a:rPr lang="en" sz="1400"/>
              <a:t>To unlock this kind of personalization, users can creat a profile using our</a:t>
            </a:r>
            <a:r>
              <a:rPr lang="en" sz="1300"/>
              <a:t> q</a:t>
            </a:r>
            <a:r>
              <a:rPr lang="en" sz="1300"/>
              <a:t>uick and easy sign up process that allows you to set your preferences for a more personalized experience.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After creating your account you will be able to save anything you’ve found, and the recommendations will be tailored to your interests. So while STEERED works just fine without an account, creating a profile makes the experience more effective as everything will be stored in our databases so you can keep track of what you’ve been doing across the app.</a:t>
            </a:r>
            <a:endParaRPr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bc73c168d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dbc73c168d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Lexend"/>
                <a:ea typeface="Lexend"/>
                <a:cs typeface="Lexend"/>
                <a:sym typeface="Lexend"/>
              </a:rPr>
              <a:t>TOOLKIT API</a:t>
            </a:r>
            <a:br>
              <a:rPr lang="en" sz="1200">
                <a:solidFill>
                  <a:schemeClr val="dk1"/>
                </a:solidFill>
                <a:latin typeface="Lexend"/>
                <a:ea typeface="Lexend"/>
                <a:cs typeface="Lexend"/>
                <a:sym typeface="Lexend"/>
              </a:rPr>
            </a:br>
            <a:r>
              <a:rPr lang="en" sz="1200">
                <a:solidFill>
                  <a:schemeClr val="dk1"/>
                </a:solidFill>
                <a:latin typeface="Lexend"/>
                <a:ea typeface="Lexend"/>
                <a:cs typeface="Lexend"/>
                <a:sym typeface="Lexend"/>
              </a:rPr>
              <a:t>(1-2 MINUTES)</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a:p>
          <a:p>
            <a:pPr indent="0" lvl="0" marL="0" rtl="0" algn="l">
              <a:spcBef>
                <a:spcPts val="0"/>
              </a:spcBef>
              <a:spcAft>
                <a:spcPts val="0"/>
              </a:spcAft>
              <a:buNone/>
            </a:pPr>
            <a:r>
              <a:rPr lang="en"/>
              <a:t>SCRIPT </a:t>
            </a:r>
            <a:endParaRPr/>
          </a:p>
          <a:p>
            <a:pPr indent="0" lvl="0" marL="0" rtl="0" algn="l">
              <a:spcBef>
                <a:spcPts val="0"/>
              </a:spcBef>
              <a:spcAft>
                <a:spcPts val="0"/>
              </a:spcAft>
              <a:buNone/>
            </a:pPr>
            <a:r>
              <a:rPr b="1" lang="en"/>
              <a:t>(</a:t>
            </a:r>
            <a:r>
              <a:rPr b="1" lang="en" sz="700"/>
              <a:t>AFTER READING THE SLIDE</a:t>
            </a:r>
            <a:r>
              <a:rPr b="1" lang="en"/>
              <a:t>): </a:t>
            </a:r>
            <a:endParaRPr b="1"/>
          </a:p>
          <a:p>
            <a:pPr indent="0" lvl="0" marL="0" rtl="0" algn="l">
              <a:spcBef>
                <a:spcPts val="0"/>
              </a:spcBef>
              <a:spcAft>
                <a:spcPts val="0"/>
              </a:spcAft>
              <a:buNone/>
            </a:pPr>
            <a:r>
              <a:rPr lang="en" sz="1300"/>
              <a:t>What makes Steered more than just a clean interface is what’s happening behind the scenes. We’ve developed a </a:t>
            </a:r>
            <a:r>
              <a:rPr lang="en" sz="1300"/>
              <a:t>backend system called the Reading Toolkit API, which powers how STEERED processes data, personalization and user interactions. This API is built around a clean REST structure, meaning our app talks to a server using URLs + HTTP methods to get or send data to communicate over the web.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Every search, filter, and saved item is powered by a structured system that connects the user experience to real data.</a:t>
            </a:r>
            <a:endParaRPr sz="1300"/>
          </a:p>
          <a:p>
            <a:pPr indent="0" lvl="0" marL="0" rtl="0" algn="l">
              <a:lnSpc>
                <a:spcPct val="115000"/>
              </a:lnSpc>
              <a:spcBef>
                <a:spcPts val="1200"/>
              </a:spcBef>
              <a:spcAft>
                <a:spcPts val="0"/>
              </a:spcAft>
              <a:buNone/>
            </a:pPr>
            <a:r>
              <a:rPr lang="en" sz="1300"/>
              <a:t>That system is our API.</a:t>
            </a:r>
            <a:br>
              <a:rPr lang="en" sz="1300"/>
            </a:br>
            <a:endParaRPr sz="1300"/>
          </a:p>
          <a:p>
            <a:pPr indent="0" lvl="0" marL="0" rtl="0" algn="l">
              <a:lnSpc>
                <a:spcPct val="115000"/>
              </a:lnSpc>
              <a:spcBef>
                <a:spcPts val="1200"/>
              </a:spcBef>
              <a:spcAft>
                <a:spcPts val="1200"/>
              </a:spcAft>
              <a:buNone/>
            </a:pPr>
            <a:br>
              <a:rPr lang="en" sz="1300"/>
            </a:br>
            <a:endParaRPr sz="13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bc73c168d_2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dbc73c168d_2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CLOSING STATEMENT</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br>
              <a:rPr lang="en" sz="1300">
                <a:solidFill>
                  <a:schemeClr val="dk1"/>
                </a:solidFill>
              </a:rPr>
            </a:br>
            <a:r>
              <a:rPr lang="en" sz="1300">
                <a:solidFill>
                  <a:schemeClr val="dk1"/>
                </a:solidFill>
              </a:rPr>
              <a:t>We started with a simple problem: too many choices can make decision-making harder, not easier.</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With that we deisgned Steered, a platform that doesn’t just give users more options, but helps guide them toward the right ones through structure, context, and personalization.</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From the interface to the API, every part of the system works together to reduce overwhelm and support better decisions.</a:t>
            </a:r>
            <a:endParaRPr sz="1300">
              <a:solidFill>
                <a:schemeClr val="dk1"/>
              </a:solidFill>
            </a:endParaRPr>
          </a:p>
          <a:p>
            <a:pPr indent="0" lvl="0" marL="0" rtl="0" algn="l">
              <a:lnSpc>
                <a:spcPct val="115000"/>
              </a:lnSpc>
              <a:spcBef>
                <a:spcPts val="1200"/>
              </a:spcBef>
              <a:spcAft>
                <a:spcPts val="1200"/>
              </a:spcAft>
              <a:buNone/>
            </a:pPr>
            <a:r>
              <a:rPr lang="en" sz="1300">
                <a:solidFill>
                  <a:schemeClr val="dk1"/>
                </a:solidFill>
              </a:rPr>
              <a:t>And ultimately, that’s what Steered is about—</a:t>
            </a:r>
            <a:r>
              <a:rPr lang="en"/>
              <a:t> </a:t>
            </a:r>
            <a:r>
              <a:rPr b="1" i="1" lang="en" sz="1400"/>
              <a:t>“Just let us take the wheel on this one.”</a:t>
            </a:r>
            <a:br>
              <a:rPr b="1" i="1" lang="en" sz="1400"/>
            </a:br>
            <a:br>
              <a:rPr lang="en"/>
            </a:b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7.jpg"/><Relationship Id="rId5" Type="http://schemas.openxmlformats.org/officeDocument/2006/relationships/image" Target="../media/image3.jpg"/><Relationship Id="rId6" Type="http://schemas.openxmlformats.org/officeDocument/2006/relationships/image" Target="../media/image8.jpg"/><Relationship Id="rId7" Type="http://schemas.openxmlformats.org/officeDocument/2006/relationships/image" Target="../media/image30.png"/><Relationship Id="rId8"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27.png"/><Relationship Id="rId5" Type="http://schemas.openxmlformats.org/officeDocument/2006/relationships/image" Target="../media/image29.png"/><Relationship Id="rId6" Type="http://schemas.openxmlformats.org/officeDocument/2006/relationships/image" Target="../media/image1.png"/><Relationship Id="rId7" Type="http://schemas.openxmlformats.org/officeDocument/2006/relationships/image" Target="../media/image16.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10.jpg"/><Relationship Id="rId4" Type="http://schemas.openxmlformats.org/officeDocument/2006/relationships/image" Target="../media/image22.jpg"/><Relationship Id="rId9" Type="http://schemas.openxmlformats.org/officeDocument/2006/relationships/image" Target="../media/image15.png"/><Relationship Id="rId5" Type="http://schemas.openxmlformats.org/officeDocument/2006/relationships/image" Target="../media/image9.jpg"/><Relationship Id="rId6" Type="http://schemas.openxmlformats.org/officeDocument/2006/relationships/image" Target="../media/image12.jpg"/><Relationship Id="rId7" Type="http://schemas.openxmlformats.org/officeDocument/2006/relationships/image" Target="../media/image4.jpg"/><Relationship Id="rId8"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14.jpg"/><Relationship Id="rId4" Type="http://schemas.openxmlformats.org/officeDocument/2006/relationships/image" Target="../media/image20.png"/><Relationship Id="rId5" Type="http://schemas.openxmlformats.org/officeDocument/2006/relationships/image" Target="../media/image4.jp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21.jpg"/><Relationship Id="rId4" Type="http://schemas.openxmlformats.org/officeDocument/2006/relationships/image" Target="../media/image20.png"/><Relationship Id="rId5"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18.jpg"/><Relationship Id="rId4" Type="http://schemas.openxmlformats.org/officeDocument/2006/relationships/image" Target="../media/image12.jpg"/><Relationship Id="rId5"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17.jpg"/><Relationship Id="rId4" Type="http://schemas.openxmlformats.org/officeDocument/2006/relationships/image" Target="../media/image27.png"/><Relationship Id="rId5"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cxnSp>
        <p:nvCxnSpPr>
          <p:cNvPr id="54" name="Google Shape;54;p13"/>
          <p:cNvCxnSpPr/>
          <p:nvPr/>
        </p:nvCxnSpPr>
        <p:spPr>
          <a:xfrm flipH="1" rot="10800000">
            <a:off x="4847350" y="4041225"/>
            <a:ext cx="1361100" cy="5700"/>
          </a:xfrm>
          <a:prstGeom prst="straightConnector1">
            <a:avLst/>
          </a:prstGeom>
          <a:noFill/>
          <a:ln cap="flat" cmpd="sng" w="28575">
            <a:solidFill>
              <a:srgbClr val="F6F1E9"/>
            </a:solidFill>
            <a:prstDash val="solid"/>
            <a:round/>
            <a:headEnd len="med" w="med" type="none"/>
            <a:tailEnd len="med" w="med" type="none"/>
          </a:ln>
        </p:spPr>
      </p:cxnSp>
      <p:sp>
        <p:nvSpPr>
          <p:cNvPr id="55" name="Google Shape;55;p13"/>
          <p:cNvSpPr/>
          <p:nvPr/>
        </p:nvSpPr>
        <p:spPr>
          <a:xfrm rot="5400000">
            <a:off x="4086700" y="-126750"/>
            <a:ext cx="612300" cy="865800"/>
          </a:xfrm>
          <a:prstGeom prst="round2SameRect">
            <a:avLst>
              <a:gd fmla="val 38021" name="adj1"/>
              <a:gd fmla="val 0" name="adj2"/>
            </a:avLst>
          </a:prstGeom>
          <a:solidFill>
            <a:schemeClr val="lt2"/>
          </a:solidFill>
          <a:ln cap="flat" cmpd="sng" w="19050">
            <a:solidFill>
              <a:schemeClr val="lt2"/>
            </a:solidFill>
            <a:prstDash val="solid"/>
            <a:round/>
            <a:headEnd len="sm" w="sm" type="none"/>
            <a:tailEnd len="sm" w="sm" type="none"/>
          </a:ln>
          <a:effectLst>
            <a:outerShdw blurRad="200025" rotWithShape="0" algn="bl" dir="7380000" dist="142875">
              <a:srgbClr val="000000">
                <a:alpha val="2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txBox="1"/>
          <p:nvPr/>
        </p:nvSpPr>
        <p:spPr>
          <a:xfrm>
            <a:off x="5074525" y="4041225"/>
            <a:ext cx="24474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rgbClr val="F6F1E9"/>
                </a:solidFill>
                <a:latin typeface="Lexend ExtraBold"/>
                <a:ea typeface="Lexend ExtraBold"/>
                <a:cs typeface="Lexend ExtraBold"/>
                <a:sym typeface="Lexend ExtraBold"/>
              </a:rPr>
              <a:t>STEERED.</a:t>
            </a:r>
            <a:endParaRPr sz="3500">
              <a:solidFill>
                <a:srgbClr val="F6F1E9"/>
              </a:solidFill>
              <a:latin typeface="Lexend ExtraBold"/>
              <a:ea typeface="Lexend ExtraBold"/>
              <a:cs typeface="Lexend ExtraBold"/>
              <a:sym typeface="Lexend ExtraBold"/>
            </a:endParaRPr>
          </a:p>
        </p:txBody>
      </p:sp>
      <p:pic>
        <p:nvPicPr>
          <p:cNvPr id="57" name="Google Shape;57;p13"/>
          <p:cNvPicPr preferRelativeResize="0"/>
          <p:nvPr/>
        </p:nvPicPr>
        <p:blipFill rotWithShape="1">
          <a:blip r:embed="rId4">
            <a:alphaModFix/>
          </a:blip>
          <a:srcRect b="43946" l="0" r="0" t="0"/>
          <a:stretch/>
        </p:blipFill>
        <p:spPr>
          <a:xfrm rot="3166636">
            <a:off x="3630978" y="2949434"/>
            <a:ext cx="1822372" cy="2083907"/>
          </a:xfrm>
          <a:prstGeom prst="rect">
            <a:avLst/>
          </a:prstGeom>
          <a:noFill/>
          <a:ln>
            <a:noFill/>
          </a:ln>
          <a:effectLst>
            <a:outerShdw blurRad="400050" rotWithShape="0" algn="bl" dir="18240000" dist="123825">
              <a:srgbClr val="000000">
                <a:alpha val="48000"/>
              </a:srgbClr>
            </a:outerShdw>
          </a:effectLst>
        </p:spPr>
      </p:pic>
      <p:sp>
        <p:nvSpPr>
          <p:cNvPr id="58" name="Google Shape;58;p13"/>
          <p:cNvSpPr/>
          <p:nvPr/>
        </p:nvSpPr>
        <p:spPr>
          <a:xfrm>
            <a:off x="1775" y="0"/>
            <a:ext cx="4142400" cy="5143500"/>
          </a:xfrm>
          <a:prstGeom prst="rect">
            <a:avLst/>
          </a:prstGeom>
          <a:solidFill>
            <a:schemeClr val="lt2"/>
          </a:solid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13"/>
          <p:cNvSpPr txBox="1"/>
          <p:nvPr/>
        </p:nvSpPr>
        <p:spPr>
          <a:xfrm>
            <a:off x="3846025" y="118613"/>
            <a:ext cx="859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CCAB8E"/>
                </a:solidFill>
                <a:latin typeface="Lexend"/>
                <a:ea typeface="Lexend"/>
                <a:cs typeface="Lexend"/>
                <a:sym typeface="Lexend"/>
              </a:rPr>
              <a:t>GROUP 1</a:t>
            </a:r>
            <a:endParaRPr b="1" sz="900">
              <a:solidFill>
                <a:srgbClr val="CCAB8E"/>
              </a:solidFill>
              <a:latin typeface="Lexend"/>
              <a:ea typeface="Lexend"/>
              <a:cs typeface="Lexend"/>
              <a:sym typeface="Lexend"/>
            </a:endParaRPr>
          </a:p>
        </p:txBody>
      </p:sp>
      <p:sp>
        <p:nvSpPr>
          <p:cNvPr id="60" name="Google Shape;60;p13"/>
          <p:cNvSpPr txBox="1"/>
          <p:nvPr/>
        </p:nvSpPr>
        <p:spPr>
          <a:xfrm>
            <a:off x="146000" y="1296125"/>
            <a:ext cx="1452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DABEA6"/>
                </a:solidFill>
                <a:latin typeface="Lexend"/>
                <a:ea typeface="Lexend"/>
                <a:cs typeface="Lexend"/>
                <a:sym typeface="Lexend"/>
              </a:rPr>
              <a:t>PRESENTED BY:</a:t>
            </a:r>
            <a:endParaRPr b="1" sz="900">
              <a:solidFill>
                <a:srgbClr val="DABEA6"/>
              </a:solidFill>
              <a:latin typeface="Lexend"/>
              <a:ea typeface="Lexend"/>
              <a:cs typeface="Lexend"/>
              <a:sym typeface="Lexend"/>
            </a:endParaRPr>
          </a:p>
        </p:txBody>
      </p:sp>
      <p:sp>
        <p:nvSpPr>
          <p:cNvPr id="61" name="Google Shape;61;p13"/>
          <p:cNvSpPr txBox="1"/>
          <p:nvPr/>
        </p:nvSpPr>
        <p:spPr>
          <a:xfrm>
            <a:off x="1504350" y="4743300"/>
            <a:ext cx="1133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CCAB8E"/>
                </a:solidFill>
                <a:latin typeface="Lexend"/>
                <a:ea typeface="Lexend"/>
                <a:cs typeface="Lexend"/>
                <a:sym typeface="Lexend"/>
              </a:rPr>
              <a:t>FEB 16, 2026</a:t>
            </a:r>
            <a:endParaRPr b="1" sz="900">
              <a:solidFill>
                <a:srgbClr val="CCAB8E"/>
              </a:solidFill>
              <a:latin typeface="Lexend"/>
              <a:ea typeface="Lexend"/>
              <a:cs typeface="Lexend"/>
              <a:sym typeface="Lexend"/>
            </a:endParaRPr>
          </a:p>
        </p:txBody>
      </p:sp>
      <p:grpSp>
        <p:nvGrpSpPr>
          <p:cNvPr id="62" name="Google Shape;62;p13"/>
          <p:cNvGrpSpPr/>
          <p:nvPr/>
        </p:nvGrpSpPr>
        <p:grpSpPr>
          <a:xfrm>
            <a:off x="3897925" y="2277775"/>
            <a:ext cx="674100" cy="668400"/>
            <a:chOff x="3897925" y="2265075"/>
            <a:chExt cx="674100" cy="668400"/>
          </a:xfrm>
        </p:grpSpPr>
        <p:sp>
          <p:nvSpPr>
            <p:cNvPr id="63" name="Google Shape;63;p13"/>
            <p:cNvSpPr/>
            <p:nvPr/>
          </p:nvSpPr>
          <p:spPr>
            <a:xfrm>
              <a:off x="3897925" y="2265075"/>
              <a:ext cx="674100" cy="668400"/>
            </a:xfrm>
            <a:prstGeom prst="ellipse">
              <a:avLst/>
            </a:prstGeom>
            <a:solidFill>
              <a:srgbClr val="61705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3DDD9"/>
                </a:solidFill>
              </a:endParaRPr>
            </a:p>
          </p:txBody>
        </p:sp>
        <p:sp>
          <p:nvSpPr>
            <p:cNvPr id="64" name="Google Shape;64;p13"/>
            <p:cNvSpPr/>
            <p:nvPr/>
          </p:nvSpPr>
          <p:spPr>
            <a:xfrm flipH="1" rot="5400000">
              <a:off x="4138825" y="2506725"/>
              <a:ext cx="273600" cy="185100"/>
            </a:xfrm>
            <a:prstGeom prst="triangle">
              <a:avLst>
                <a:gd fmla="val 50000" name="adj"/>
              </a:avLst>
            </a:prstGeom>
            <a:solidFill>
              <a:srgbClr val="AA8E7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65" name="Google Shape;65;p13"/>
          <p:cNvGrpSpPr/>
          <p:nvPr/>
        </p:nvGrpSpPr>
        <p:grpSpPr>
          <a:xfrm>
            <a:off x="146006" y="197524"/>
            <a:ext cx="647597" cy="196200"/>
            <a:chOff x="146006" y="197524"/>
            <a:chExt cx="647597" cy="196200"/>
          </a:xfrm>
        </p:grpSpPr>
        <p:sp>
          <p:nvSpPr>
            <p:cNvPr id="66" name="Google Shape;66;p13"/>
            <p:cNvSpPr/>
            <p:nvPr/>
          </p:nvSpPr>
          <p:spPr>
            <a:xfrm rot="5400000">
              <a:off x="369988" y="197524"/>
              <a:ext cx="196200" cy="196200"/>
            </a:xfrm>
            <a:prstGeom prst="ellipse">
              <a:avLst/>
            </a:prstGeom>
            <a:solidFill>
              <a:srgbClr val="AA8E76"/>
            </a:solidFill>
            <a:ln cap="flat" cmpd="sng" w="14350">
              <a:solidFill>
                <a:srgbClr val="5F4F41"/>
              </a:solidFill>
              <a:prstDash val="solid"/>
              <a:round/>
              <a:headEnd len="sm" w="sm" type="none"/>
              <a:tailEnd len="sm" w="sm" type="none"/>
            </a:ln>
          </p:spPr>
          <p:txBody>
            <a:bodyPr anchorCtr="0" anchor="ctr" bIns="17900" lIns="17900" spcFirstLastPara="1" rIns="17900" wrap="square" tIns="17900">
              <a:noAutofit/>
            </a:bodyPr>
            <a:lstStyle/>
            <a:p>
              <a:pPr indent="0" lvl="0" marL="0" rtl="0" algn="ctr">
                <a:spcBef>
                  <a:spcPts val="0"/>
                </a:spcBef>
                <a:spcAft>
                  <a:spcPts val="0"/>
                </a:spcAft>
                <a:buNone/>
              </a:pPr>
              <a:r>
                <a:t/>
              </a:r>
              <a:endParaRPr sz="274"/>
            </a:p>
          </p:txBody>
        </p:sp>
        <p:sp>
          <p:nvSpPr>
            <p:cNvPr id="67" name="Google Shape;67;p13"/>
            <p:cNvSpPr/>
            <p:nvPr/>
          </p:nvSpPr>
          <p:spPr>
            <a:xfrm rot="5400000">
              <a:off x="146006" y="197524"/>
              <a:ext cx="196200" cy="196200"/>
            </a:xfrm>
            <a:prstGeom prst="ellipse">
              <a:avLst/>
            </a:prstGeom>
            <a:solidFill>
              <a:srgbClr val="85997C"/>
            </a:solidFill>
            <a:ln cap="flat" cmpd="sng" w="14350">
              <a:solidFill>
                <a:srgbClr val="5F4F41"/>
              </a:solidFill>
              <a:prstDash val="solid"/>
              <a:round/>
              <a:headEnd len="sm" w="sm" type="none"/>
              <a:tailEnd len="sm" w="sm" type="none"/>
            </a:ln>
          </p:spPr>
          <p:txBody>
            <a:bodyPr anchorCtr="0" anchor="ctr" bIns="17900" lIns="17900" spcFirstLastPara="1" rIns="17900" wrap="square" tIns="17900">
              <a:noAutofit/>
            </a:bodyPr>
            <a:lstStyle/>
            <a:p>
              <a:pPr indent="0" lvl="0" marL="0" rtl="0" algn="ctr">
                <a:spcBef>
                  <a:spcPts val="0"/>
                </a:spcBef>
                <a:spcAft>
                  <a:spcPts val="0"/>
                </a:spcAft>
                <a:buNone/>
              </a:pPr>
              <a:r>
                <a:t/>
              </a:r>
              <a:endParaRPr sz="274"/>
            </a:p>
          </p:txBody>
        </p:sp>
        <p:sp>
          <p:nvSpPr>
            <p:cNvPr id="68" name="Google Shape;68;p13"/>
            <p:cNvSpPr/>
            <p:nvPr/>
          </p:nvSpPr>
          <p:spPr>
            <a:xfrm rot="5400000">
              <a:off x="597403" y="197524"/>
              <a:ext cx="196200" cy="196200"/>
            </a:xfrm>
            <a:prstGeom prst="ellipse">
              <a:avLst/>
            </a:prstGeom>
            <a:solidFill>
              <a:srgbClr val="DABEA6"/>
            </a:solidFill>
            <a:ln cap="flat" cmpd="sng" w="14350">
              <a:solidFill>
                <a:srgbClr val="5F4F41"/>
              </a:solidFill>
              <a:prstDash val="solid"/>
              <a:round/>
              <a:headEnd len="sm" w="sm" type="none"/>
              <a:tailEnd len="sm" w="sm" type="none"/>
            </a:ln>
          </p:spPr>
          <p:txBody>
            <a:bodyPr anchorCtr="0" anchor="ctr" bIns="17900" lIns="17900" spcFirstLastPara="1" rIns="17900" wrap="square" tIns="17900">
              <a:noAutofit/>
            </a:bodyPr>
            <a:lstStyle/>
            <a:p>
              <a:pPr indent="0" lvl="0" marL="0" rtl="0" algn="ctr">
                <a:spcBef>
                  <a:spcPts val="0"/>
                </a:spcBef>
                <a:spcAft>
                  <a:spcPts val="0"/>
                </a:spcAft>
                <a:buNone/>
              </a:pPr>
              <a:r>
                <a:t/>
              </a:r>
              <a:endParaRPr sz="274"/>
            </a:p>
          </p:txBody>
        </p:sp>
      </p:grpSp>
      <p:sp>
        <p:nvSpPr>
          <p:cNvPr id="69" name="Google Shape;69;p13"/>
          <p:cNvSpPr/>
          <p:nvPr/>
        </p:nvSpPr>
        <p:spPr>
          <a:xfrm>
            <a:off x="6121700" y="3932550"/>
            <a:ext cx="196200" cy="196200"/>
          </a:xfrm>
          <a:prstGeom prst="ellipse">
            <a:avLst/>
          </a:prstGeom>
          <a:solidFill>
            <a:srgbClr val="F6F1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3DDD9"/>
              </a:solidFill>
            </a:endParaRPr>
          </a:p>
        </p:txBody>
      </p:sp>
      <p:sp>
        <p:nvSpPr>
          <p:cNvPr id="70" name="Google Shape;70;p13"/>
          <p:cNvSpPr txBox="1"/>
          <p:nvPr/>
        </p:nvSpPr>
        <p:spPr>
          <a:xfrm>
            <a:off x="146000" y="803525"/>
            <a:ext cx="4227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61705A"/>
                </a:solidFill>
                <a:latin typeface="Lexend SemiBold"/>
                <a:ea typeface="Lexend SemiBold"/>
                <a:cs typeface="Lexend SemiBold"/>
                <a:sym typeface="Lexend SemiBold"/>
              </a:rPr>
              <a:t>CAPSTONE Final Presentation</a:t>
            </a:r>
            <a:endParaRPr sz="2000">
              <a:solidFill>
                <a:srgbClr val="61705A"/>
              </a:solidFill>
              <a:latin typeface="Lexend SemiBold"/>
              <a:ea typeface="Lexend SemiBold"/>
              <a:cs typeface="Lexend SemiBold"/>
              <a:sym typeface="Lexend SemiBold"/>
            </a:endParaRPr>
          </a:p>
        </p:txBody>
      </p:sp>
      <p:sp>
        <p:nvSpPr>
          <p:cNvPr id="71" name="Google Shape;71;p13"/>
          <p:cNvSpPr txBox="1"/>
          <p:nvPr/>
        </p:nvSpPr>
        <p:spPr>
          <a:xfrm>
            <a:off x="5074525" y="2779650"/>
            <a:ext cx="345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6F1E9"/>
                </a:solidFill>
                <a:latin typeface="Lexend Light"/>
                <a:ea typeface="Lexend Light"/>
                <a:cs typeface="Lexend Light"/>
                <a:sym typeface="Lexend Light"/>
              </a:rPr>
              <a:t>“We’ll take the wheel on this one.”</a:t>
            </a:r>
            <a:endParaRPr>
              <a:solidFill>
                <a:srgbClr val="F6F1E9"/>
              </a:solidFill>
              <a:latin typeface="Lexend Light"/>
              <a:ea typeface="Lexend Light"/>
              <a:cs typeface="Lexend Light"/>
              <a:sym typeface="Lexend Light"/>
            </a:endParaRPr>
          </a:p>
        </p:txBody>
      </p:sp>
      <p:sp>
        <p:nvSpPr>
          <p:cNvPr id="72" name="Google Shape;72;p13"/>
          <p:cNvSpPr txBox="1"/>
          <p:nvPr/>
        </p:nvSpPr>
        <p:spPr>
          <a:xfrm>
            <a:off x="80625" y="1566675"/>
            <a:ext cx="3711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85997C"/>
                </a:solidFill>
                <a:latin typeface="Lexend"/>
                <a:ea typeface="Lexend"/>
                <a:cs typeface="Lexend"/>
                <a:sym typeface="Lexend"/>
              </a:rPr>
              <a:t>damian d. </a:t>
            </a:r>
            <a:r>
              <a:rPr lang="en" sz="1200">
                <a:solidFill>
                  <a:srgbClr val="61705A"/>
                </a:solidFill>
                <a:latin typeface="Lexend"/>
                <a:ea typeface="Lexend"/>
                <a:cs typeface="Lexend"/>
                <a:sym typeface="Lexend"/>
              </a:rPr>
              <a:t> |</a:t>
            </a:r>
            <a:r>
              <a:rPr lang="en" sz="1200">
                <a:solidFill>
                  <a:srgbClr val="85997C"/>
                </a:solidFill>
                <a:latin typeface="Lexend"/>
                <a:ea typeface="Lexend"/>
                <a:cs typeface="Lexend"/>
                <a:sym typeface="Lexend"/>
              </a:rPr>
              <a:t>  laila s. </a:t>
            </a:r>
            <a:r>
              <a:rPr lang="en" sz="1200">
                <a:solidFill>
                  <a:srgbClr val="61705A"/>
                </a:solidFill>
                <a:latin typeface="Lexend"/>
                <a:ea typeface="Lexend"/>
                <a:cs typeface="Lexend"/>
                <a:sym typeface="Lexend"/>
              </a:rPr>
              <a:t> |</a:t>
            </a:r>
            <a:r>
              <a:rPr lang="en" sz="1200">
                <a:solidFill>
                  <a:srgbClr val="85997C"/>
                </a:solidFill>
                <a:latin typeface="Lexend"/>
                <a:ea typeface="Lexend"/>
                <a:cs typeface="Lexend"/>
                <a:sym typeface="Lexend"/>
              </a:rPr>
              <a:t>  sejiro k.  </a:t>
            </a:r>
            <a:r>
              <a:rPr lang="en" sz="1200">
                <a:solidFill>
                  <a:srgbClr val="61705A"/>
                </a:solidFill>
                <a:latin typeface="Lexend"/>
                <a:ea typeface="Lexend"/>
                <a:cs typeface="Lexend"/>
                <a:sym typeface="Lexend"/>
              </a:rPr>
              <a:t>|</a:t>
            </a:r>
            <a:r>
              <a:rPr lang="en" sz="1200">
                <a:solidFill>
                  <a:srgbClr val="85997C"/>
                </a:solidFill>
                <a:latin typeface="Lexend"/>
                <a:ea typeface="Lexend"/>
                <a:cs typeface="Lexend"/>
                <a:sym typeface="Lexend"/>
              </a:rPr>
              <a:t> shane j.</a:t>
            </a:r>
            <a:endParaRPr sz="1200">
              <a:solidFill>
                <a:srgbClr val="85997C"/>
              </a:solidFill>
              <a:latin typeface="Lexend"/>
              <a:ea typeface="Lexend"/>
              <a:cs typeface="Lexend"/>
              <a:sym typeface="Lexend"/>
            </a:endParaRPr>
          </a:p>
        </p:txBody>
      </p:sp>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600" fill="hold"/>
                                        <p:tgtEl>
                                          <p:spTgt spid="62"/>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Google Shape;77;p14"/>
          <p:cNvSpPr/>
          <p:nvPr/>
        </p:nvSpPr>
        <p:spPr>
          <a:xfrm rot="6914296">
            <a:off x="2481415" y="2718530"/>
            <a:ext cx="788023" cy="841290"/>
          </a:xfrm>
          <a:prstGeom prst="round2DiagRect">
            <a:avLst>
              <a:gd fmla="val 50000" name="adj1"/>
              <a:gd fmla="val 0" name="adj2"/>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8" name="Google Shape;78;p14"/>
          <p:cNvCxnSpPr/>
          <p:nvPr/>
        </p:nvCxnSpPr>
        <p:spPr>
          <a:xfrm>
            <a:off x="304800" y="1185825"/>
            <a:ext cx="0" cy="962100"/>
          </a:xfrm>
          <a:prstGeom prst="straightConnector1">
            <a:avLst/>
          </a:prstGeom>
          <a:noFill/>
          <a:ln cap="flat" cmpd="sng" w="28575">
            <a:solidFill>
              <a:srgbClr val="DABEA6"/>
            </a:solidFill>
            <a:prstDash val="solid"/>
            <a:round/>
            <a:headEnd len="med" w="med" type="oval"/>
            <a:tailEnd len="med" w="med" type="none"/>
          </a:ln>
        </p:spPr>
      </p:cxnSp>
      <p:sp>
        <p:nvSpPr>
          <p:cNvPr id="79" name="Google Shape;79;p14"/>
          <p:cNvSpPr/>
          <p:nvPr/>
        </p:nvSpPr>
        <p:spPr>
          <a:xfrm flipH="1" rot="5400000">
            <a:off x="208450" y="-205225"/>
            <a:ext cx="2966700" cy="3383700"/>
          </a:xfrm>
          <a:prstGeom prst="round2SameRect">
            <a:avLst>
              <a:gd fmla="val 16667" name="adj1"/>
              <a:gd fmla="val 0" name="adj2"/>
            </a:avLst>
          </a:prstGeom>
          <a:solidFill>
            <a:schemeClr val="lt2"/>
          </a:solidFill>
          <a:ln cap="flat" cmpd="sng" w="19050">
            <a:solidFill>
              <a:schemeClr val="lt2"/>
            </a:solidFill>
            <a:prstDash val="solid"/>
            <a:round/>
            <a:headEnd len="sm" w="sm" type="none"/>
            <a:tailEnd len="sm" w="sm" type="none"/>
          </a:ln>
        </p:spPr>
        <p:txBody>
          <a:bodyPr anchorCtr="0" anchor="ctr" bIns="72200" lIns="72200" spcFirstLastPara="1" rIns="72200" wrap="square" tIns="72200">
            <a:noAutofit/>
          </a:bodyPr>
          <a:lstStyle/>
          <a:p>
            <a:pPr indent="0" lvl="0" marL="0" rtl="0" algn="ctr">
              <a:spcBef>
                <a:spcPts val="0"/>
              </a:spcBef>
              <a:spcAft>
                <a:spcPts val="0"/>
              </a:spcAft>
              <a:buNone/>
            </a:pPr>
            <a:r>
              <a:t/>
            </a:r>
            <a:endParaRPr sz="1106"/>
          </a:p>
        </p:txBody>
      </p:sp>
      <p:sp>
        <p:nvSpPr>
          <p:cNvPr id="80" name="Google Shape;80;p14"/>
          <p:cNvSpPr txBox="1"/>
          <p:nvPr/>
        </p:nvSpPr>
        <p:spPr>
          <a:xfrm>
            <a:off x="195569" y="203748"/>
            <a:ext cx="1985780" cy="398720"/>
          </a:xfrm>
          <a:prstGeom prst="rect">
            <a:avLst/>
          </a:prstGeom>
          <a:noFill/>
          <a:ln>
            <a:noFill/>
          </a:ln>
        </p:spPr>
        <p:txBody>
          <a:bodyPr anchorCtr="0" anchor="t" bIns="72200" lIns="72200" spcFirstLastPara="1" rIns="72200" wrap="square" tIns="72200">
            <a:noAutofit/>
          </a:bodyPr>
          <a:lstStyle/>
          <a:p>
            <a:pPr indent="0" lvl="0" marL="0" rtl="0" algn="l">
              <a:spcBef>
                <a:spcPts val="0"/>
              </a:spcBef>
              <a:spcAft>
                <a:spcPts val="0"/>
              </a:spcAft>
              <a:buNone/>
            </a:pPr>
            <a:r>
              <a:rPr lang="en" sz="2200">
                <a:solidFill>
                  <a:srgbClr val="61705A"/>
                </a:solidFill>
                <a:latin typeface="Lexend SemiBold"/>
                <a:ea typeface="Lexend SemiBold"/>
                <a:cs typeface="Lexend SemiBold"/>
                <a:sym typeface="Lexend SemiBold"/>
              </a:rPr>
              <a:t>STEERED.</a:t>
            </a:r>
            <a:endParaRPr sz="2200">
              <a:solidFill>
                <a:srgbClr val="61705A"/>
              </a:solidFill>
              <a:latin typeface="Lexend SemiBold"/>
              <a:ea typeface="Lexend SemiBold"/>
              <a:cs typeface="Lexend SemiBold"/>
              <a:sym typeface="Lexend SemiBold"/>
            </a:endParaRPr>
          </a:p>
        </p:txBody>
      </p:sp>
      <p:sp>
        <p:nvSpPr>
          <p:cNvPr id="81" name="Google Shape;81;p14"/>
          <p:cNvSpPr txBox="1"/>
          <p:nvPr/>
        </p:nvSpPr>
        <p:spPr>
          <a:xfrm>
            <a:off x="300875" y="955920"/>
            <a:ext cx="3031200" cy="962100"/>
          </a:xfrm>
          <a:prstGeom prst="rect">
            <a:avLst/>
          </a:prstGeom>
          <a:noFill/>
          <a:ln>
            <a:noFill/>
          </a:ln>
        </p:spPr>
        <p:txBody>
          <a:bodyPr anchorCtr="0" anchor="t" bIns="72200" lIns="72200" spcFirstLastPara="1" rIns="72200" wrap="square" tIns="72200">
            <a:noAutofit/>
          </a:bodyPr>
          <a:lstStyle/>
          <a:p>
            <a:pPr indent="0" lvl="0" marL="0" rtl="0" algn="l">
              <a:spcBef>
                <a:spcPts val="0"/>
              </a:spcBef>
              <a:spcAft>
                <a:spcPts val="0"/>
              </a:spcAft>
              <a:buNone/>
            </a:pPr>
            <a:r>
              <a:rPr lang="en" sz="1206">
                <a:solidFill>
                  <a:srgbClr val="61705A"/>
                </a:solidFill>
                <a:latin typeface="Lexend"/>
                <a:ea typeface="Lexend"/>
                <a:cs typeface="Lexend"/>
                <a:sym typeface="Lexend"/>
              </a:rPr>
              <a:t>A way to remove the</a:t>
            </a:r>
            <a:r>
              <a:rPr lang="en" sz="1206">
                <a:solidFill>
                  <a:srgbClr val="85997C"/>
                </a:solidFill>
                <a:latin typeface="Lexend"/>
                <a:ea typeface="Lexend"/>
                <a:cs typeface="Lexend"/>
                <a:sym typeface="Lexend"/>
              </a:rPr>
              <a:t> </a:t>
            </a:r>
            <a:r>
              <a:rPr b="1" lang="en" sz="1206">
                <a:solidFill>
                  <a:srgbClr val="5F4F41"/>
                </a:solidFill>
                <a:latin typeface="Lexend"/>
                <a:ea typeface="Lexend"/>
                <a:cs typeface="Lexend"/>
                <a:sym typeface="Lexend"/>
              </a:rPr>
              <a:t>confusion</a:t>
            </a:r>
            <a:r>
              <a:rPr b="1" lang="en" sz="1206">
                <a:solidFill>
                  <a:srgbClr val="85997C"/>
                </a:solidFill>
                <a:latin typeface="Lexend"/>
                <a:ea typeface="Lexend"/>
                <a:cs typeface="Lexend"/>
                <a:sym typeface="Lexend"/>
              </a:rPr>
              <a:t> </a:t>
            </a:r>
            <a:r>
              <a:rPr lang="en" sz="1206">
                <a:solidFill>
                  <a:srgbClr val="61705A"/>
                </a:solidFill>
                <a:latin typeface="Lexend"/>
                <a:ea typeface="Lexend"/>
                <a:cs typeface="Lexend"/>
                <a:sym typeface="Lexend"/>
              </a:rPr>
              <a:t>and</a:t>
            </a:r>
            <a:r>
              <a:rPr lang="en" sz="1206">
                <a:solidFill>
                  <a:srgbClr val="85997C"/>
                </a:solidFill>
                <a:latin typeface="Lexend"/>
                <a:ea typeface="Lexend"/>
                <a:cs typeface="Lexend"/>
                <a:sym typeface="Lexend"/>
              </a:rPr>
              <a:t> </a:t>
            </a:r>
            <a:r>
              <a:rPr b="1" lang="en" sz="1206">
                <a:solidFill>
                  <a:srgbClr val="5F4F41"/>
                </a:solidFill>
                <a:latin typeface="Lexend"/>
                <a:ea typeface="Lexend"/>
                <a:cs typeface="Lexend"/>
                <a:sym typeface="Lexend"/>
              </a:rPr>
              <a:t>paralysis</a:t>
            </a:r>
            <a:r>
              <a:rPr b="1" lang="en" sz="1206">
                <a:solidFill>
                  <a:srgbClr val="5F4F41"/>
                </a:solidFill>
                <a:latin typeface="Lexend"/>
                <a:ea typeface="Lexend"/>
                <a:cs typeface="Lexend"/>
                <a:sym typeface="Lexend"/>
              </a:rPr>
              <a:t> </a:t>
            </a:r>
            <a:r>
              <a:rPr lang="en" sz="1206">
                <a:solidFill>
                  <a:srgbClr val="61705A"/>
                </a:solidFill>
                <a:latin typeface="Lexend"/>
                <a:ea typeface="Lexend"/>
                <a:cs typeface="Lexend"/>
                <a:sym typeface="Lexend"/>
              </a:rPr>
              <a:t>when choosing books, letting reading be </a:t>
            </a:r>
            <a:r>
              <a:rPr b="1" lang="en" sz="1206">
                <a:solidFill>
                  <a:srgbClr val="5F4F41"/>
                </a:solidFill>
                <a:latin typeface="Lexend"/>
                <a:ea typeface="Lexend"/>
                <a:cs typeface="Lexend"/>
                <a:sym typeface="Lexend"/>
              </a:rPr>
              <a:t>the stress-free, relaxing activity</a:t>
            </a:r>
            <a:r>
              <a:rPr lang="en" sz="1206">
                <a:solidFill>
                  <a:srgbClr val="5D705B"/>
                </a:solidFill>
                <a:latin typeface="Lexend"/>
                <a:ea typeface="Lexend"/>
                <a:cs typeface="Lexend"/>
                <a:sym typeface="Lexend"/>
              </a:rPr>
              <a:t> that it should be.</a:t>
            </a:r>
            <a:endParaRPr sz="1206">
              <a:solidFill>
                <a:srgbClr val="5D705B"/>
              </a:solidFill>
              <a:latin typeface="Lexend"/>
              <a:ea typeface="Lexend"/>
              <a:cs typeface="Lexend"/>
              <a:sym typeface="Lexend"/>
            </a:endParaRPr>
          </a:p>
        </p:txBody>
      </p:sp>
      <p:sp>
        <p:nvSpPr>
          <p:cNvPr id="82" name="Google Shape;82;p14"/>
          <p:cNvSpPr txBox="1"/>
          <p:nvPr/>
        </p:nvSpPr>
        <p:spPr>
          <a:xfrm>
            <a:off x="570050" y="2055575"/>
            <a:ext cx="2261100" cy="722100"/>
          </a:xfrm>
          <a:prstGeom prst="rect">
            <a:avLst/>
          </a:prstGeom>
          <a:noFill/>
          <a:ln>
            <a:noFill/>
          </a:ln>
        </p:spPr>
        <p:txBody>
          <a:bodyPr anchorCtr="0" anchor="t" bIns="72200" lIns="72200" spcFirstLastPara="1" rIns="72200" wrap="square" tIns="72200">
            <a:noAutofit/>
          </a:bodyPr>
          <a:lstStyle/>
          <a:p>
            <a:pPr indent="0" lvl="0" marL="0" rtl="0" algn="l">
              <a:spcBef>
                <a:spcPts val="0"/>
              </a:spcBef>
              <a:spcAft>
                <a:spcPts val="0"/>
              </a:spcAft>
              <a:buNone/>
            </a:pPr>
            <a:r>
              <a:rPr lang="en" sz="1100">
                <a:solidFill>
                  <a:srgbClr val="85997C"/>
                </a:solidFill>
                <a:latin typeface="Lexend"/>
                <a:ea typeface="Lexend"/>
                <a:cs typeface="Lexend"/>
                <a:sym typeface="Lexend"/>
              </a:rPr>
              <a:t>Let us take the wheel on finding your next read, </a:t>
            </a:r>
            <a:r>
              <a:rPr b="1" lang="en" sz="1100">
                <a:solidFill>
                  <a:srgbClr val="5F4F41"/>
                </a:solidFill>
                <a:latin typeface="Lexend"/>
                <a:ea typeface="Lexend"/>
                <a:cs typeface="Lexend"/>
                <a:sym typeface="Lexend"/>
              </a:rPr>
              <a:t>so you can get back in the pages.</a:t>
            </a:r>
            <a:endParaRPr b="1" sz="1100">
              <a:solidFill>
                <a:srgbClr val="5F4F41"/>
              </a:solidFill>
              <a:latin typeface="Lexend"/>
              <a:ea typeface="Lexend"/>
              <a:cs typeface="Lexend"/>
              <a:sym typeface="Lexend"/>
            </a:endParaRPr>
          </a:p>
        </p:txBody>
      </p:sp>
      <p:cxnSp>
        <p:nvCxnSpPr>
          <p:cNvPr id="83" name="Google Shape;83;p14"/>
          <p:cNvCxnSpPr/>
          <p:nvPr/>
        </p:nvCxnSpPr>
        <p:spPr>
          <a:xfrm flipH="1">
            <a:off x="1960294" y="2031489"/>
            <a:ext cx="788100" cy="765600"/>
          </a:xfrm>
          <a:prstGeom prst="bentConnector3">
            <a:avLst>
              <a:gd fmla="val -3" name="adj1"/>
            </a:avLst>
          </a:prstGeom>
          <a:noFill/>
          <a:ln cap="flat" cmpd="sng" w="19050">
            <a:solidFill>
              <a:srgbClr val="CCAB8E"/>
            </a:solidFill>
            <a:prstDash val="solid"/>
            <a:round/>
            <a:headEnd len="med" w="med" type="oval"/>
            <a:tailEnd len="med" w="med" type="none"/>
          </a:ln>
        </p:spPr>
      </p:cxnSp>
      <p:cxnSp>
        <p:nvCxnSpPr>
          <p:cNvPr id="84" name="Google Shape;84;p14"/>
          <p:cNvCxnSpPr/>
          <p:nvPr/>
        </p:nvCxnSpPr>
        <p:spPr>
          <a:xfrm flipH="1">
            <a:off x="570232" y="2033759"/>
            <a:ext cx="788100" cy="765600"/>
          </a:xfrm>
          <a:prstGeom prst="bentConnector3">
            <a:avLst>
              <a:gd fmla="val 100010" name="adj1"/>
            </a:avLst>
          </a:prstGeom>
          <a:noFill/>
          <a:ln cap="flat" cmpd="sng" w="19050">
            <a:solidFill>
              <a:srgbClr val="CCAB8E"/>
            </a:solidFill>
            <a:prstDash val="solid"/>
            <a:round/>
            <a:headEnd len="med" w="med" type="none"/>
            <a:tailEnd len="med" w="med" type="oval"/>
          </a:ln>
        </p:spPr>
      </p:cxnSp>
      <p:grpSp>
        <p:nvGrpSpPr>
          <p:cNvPr id="85" name="Google Shape;85;p14"/>
          <p:cNvGrpSpPr/>
          <p:nvPr/>
        </p:nvGrpSpPr>
        <p:grpSpPr>
          <a:xfrm>
            <a:off x="5436274" y="602475"/>
            <a:ext cx="2479974" cy="3005010"/>
            <a:chOff x="5733250" y="1185817"/>
            <a:chExt cx="2971097" cy="3993900"/>
          </a:xfrm>
        </p:grpSpPr>
        <p:sp>
          <p:nvSpPr>
            <p:cNvPr id="86" name="Google Shape;86;p14"/>
            <p:cNvSpPr/>
            <p:nvPr/>
          </p:nvSpPr>
          <p:spPr>
            <a:xfrm>
              <a:off x="7328735" y="1185817"/>
              <a:ext cx="76200" cy="3993900"/>
            </a:xfrm>
            <a:prstGeom prst="round2SameRect">
              <a:avLst>
                <a:gd fmla="val 50000" name="adj1"/>
                <a:gd fmla="val 0" name="adj2"/>
              </a:avLst>
            </a:prstGeom>
            <a:solidFill>
              <a:srgbClr val="606B18"/>
            </a:solidFill>
            <a:ln cap="flat" cmpd="sng" w="23825">
              <a:solidFill>
                <a:srgbClr val="606B18"/>
              </a:solidFill>
              <a:prstDash val="solid"/>
              <a:round/>
              <a:headEnd len="sm" w="sm" type="none"/>
              <a:tailEnd len="sm" w="sm" type="none"/>
            </a:ln>
          </p:spPr>
          <p:txBody>
            <a:bodyPr anchorCtr="0" anchor="ctr" bIns="76350" lIns="76350" spcFirstLastPara="1" rIns="76350" wrap="square" tIns="76350">
              <a:noAutofit/>
            </a:bodyPr>
            <a:lstStyle/>
            <a:p>
              <a:pPr indent="0" lvl="0" marL="0" rtl="0" algn="ctr">
                <a:spcBef>
                  <a:spcPts val="0"/>
                </a:spcBef>
                <a:spcAft>
                  <a:spcPts val="0"/>
                </a:spcAft>
                <a:buNone/>
              </a:pPr>
              <a:r>
                <a:t/>
              </a:r>
              <a:endParaRPr sz="1169"/>
            </a:p>
          </p:txBody>
        </p:sp>
        <p:pic>
          <p:nvPicPr>
            <p:cNvPr descr="Stack of books (Provided by Getty Images)" id="87" name="Google Shape;87;p14"/>
            <p:cNvPicPr preferRelativeResize="0"/>
            <p:nvPr/>
          </p:nvPicPr>
          <p:blipFill rotWithShape="1">
            <a:blip r:embed="rId4">
              <a:alphaModFix/>
            </a:blip>
            <a:srcRect b="9389" l="0" r="0" t="9389"/>
            <a:stretch/>
          </p:blipFill>
          <p:spPr>
            <a:xfrm rot="-5400000">
              <a:off x="5729950" y="3415875"/>
              <a:ext cx="1513200" cy="1506600"/>
            </a:xfrm>
            <a:prstGeom prst="round2DiagRect">
              <a:avLst>
                <a:gd fmla="val 50000" name="adj1"/>
                <a:gd fmla="val 0" name="adj2"/>
              </a:avLst>
            </a:prstGeom>
            <a:noFill/>
            <a:ln cap="flat" cmpd="sng" w="95450">
              <a:solidFill>
                <a:srgbClr val="606B18"/>
              </a:solidFill>
              <a:prstDash val="solid"/>
              <a:round/>
              <a:headEnd len="sm" w="sm" type="none"/>
              <a:tailEnd len="sm" w="sm" type="none"/>
            </a:ln>
          </p:spPr>
        </p:pic>
        <p:pic>
          <p:nvPicPr>
            <p:cNvPr descr="Man reading book (Provided by Getty Images)" id="88" name="Google Shape;88;p14"/>
            <p:cNvPicPr preferRelativeResize="0"/>
            <p:nvPr/>
          </p:nvPicPr>
          <p:blipFill rotWithShape="1">
            <a:blip r:embed="rId5">
              <a:alphaModFix/>
            </a:blip>
            <a:srcRect b="0" l="31321" r="-15270" t="0"/>
            <a:stretch/>
          </p:blipFill>
          <p:spPr>
            <a:xfrm>
              <a:off x="7493847" y="3108644"/>
              <a:ext cx="1210500" cy="1066200"/>
            </a:xfrm>
            <a:prstGeom prst="round2DiagRect">
              <a:avLst>
                <a:gd fmla="val 50000" name="adj1"/>
                <a:gd fmla="val 0" name="adj2"/>
              </a:avLst>
            </a:prstGeom>
            <a:noFill/>
            <a:ln cap="flat" cmpd="sng" w="95450">
              <a:solidFill>
                <a:srgbClr val="606B18"/>
              </a:solidFill>
              <a:prstDash val="solid"/>
              <a:round/>
              <a:headEnd len="sm" w="sm" type="none"/>
              <a:tailEnd len="sm" w="sm" type="none"/>
            </a:ln>
          </p:spPr>
        </p:pic>
        <p:pic>
          <p:nvPicPr>
            <p:cNvPr descr="Open book,book pages,dim light, close up, shallow depth of field. Education,reading,literature,learning,wisdom concept. (Provided by Getty Images)" id="89" name="Google Shape;89;p14"/>
            <p:cNvPicPr preferRelativeResize="0"/>
            <p:nvPr/>
          </p:nvPicPr>
          <p:blipFill rotWithShape="1">
            <a:blip r:embed="rId6">
              <a:alphaModFix/>
            </a:blip>
            <a:srcRect b="0" l="17027" r="17027" t="0"/>
            <a:stretch/>
          </p:blipFill>
          <p:spPr>
            <a:xfrm flipH="1">
              <a:off x="6226853" y="1581744"/>
              <a:ext cx="1101900" cy="1066200"/>
            </a:xfrm>
            <a:prstGeom prst="round2DiagRect">
              <a:avLst>
                <a:gd fmla="val 50000" name="adj1"/>
                <a:gd fmla="val 0" name="adj2"/>
              </a:avLst>
            </a:prstGeom>
            <a:noFill/>
            <a:ln cap="flat" cmpd="sng" w="63600">
              <a:solidFill>
                <a:srgbClr val="606B18"/>
              </a:solidFill>
              <a:prstDash val="solid"/>
              <a:round/>
              <a:headEnd len="sm" w="sm" type="none"/>
              <a:tailEnd len="sm" w="sm" type="none"/>
            </a:ln>
          </p:spPr>
        </p:pic>
      </p:grpSp>
      <p:sp>
        <p:nvSpPr>
          <p:cNvPr id="90" name="Google Shape;90;p14"/>
          <p:cNvSpPr/>
          <p:nvPr/>
        </p:nvSpPr>
        <p:spPr>
          <a:xfrm rot="2698540">
            <a:off x="3198452" y="2585367"/>
            <a:ext cx="499571" cy="467115"/>
          </a:xfrm>
          <a:prstGeom prst="round2DiagRect">
            <a:avLst>
              <a:gd fmla="val 50000" name="adj1"/>
              <a:gd fmla="val 0" name="adj2"/>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4"/>
          <p:cNvSpPr/>
          <p:nvPr/>
        </p:nvSpPr>
        <p:spPr>
          <a:xfrm>
            <a:off x="324175" y="3408925"/>
            <a:ext cx="1898100" cy="1495200"/>
          </a:xfrm>
          <a:prstGeom prst="roundRect">
            <a:avLst>
              <a:gd fmla="val 11766" name="adj"/>
            </a:avLst>
          </a:prstGeom>
          <a:solidFill>
            <a:srgbClr val="A2A879"/>
          </a:solidFill>
          <a:ln cap="flat" cmpd="sng" w="19050">
            <a:solidFill>
              <a:srgbClr val="A2A879"/>
            </a:solidFill>
            <a:prstDash val="solid"/>
            <a:round/>
            <a:headEnd len="sm" w="sm" type="none"/>
            <a:tailEnd len="sm" w="sm" type="none"/>
          </a:ln>
        </p:spPr>
        <p:txBody>
          <a:bodyPr anchorCtr="0" anchor="ctr" bIns="73925" lIns="73925" spcFirstLastPara="1" rIns="73925" wrap="square" tIns="73925">
            <a:noAutofit/>
          </a:bodyPr>
          <a:lstStyle/>
          <a:p>
            <a:pPr indent="0" lvl="0" marL="0" rtl="0" algn="l">
              <a:spcBef>
                <a:spcPts val="0"/>
              </a:spcBef>
              <a:spcAft>
                <a:spcPts val="0"/>
              </a:spcAft>
              <a:buNone/>
            </a:pPr>
            <a:r>
              <a:t/>
            </a:r>
            <a:endParaRPr b="1" sz="1038">
              <a:solidFill>
                <a:srgbClr val="606B18"/>
              </a:solidFill>
              <a:latin typeface="Nunito"/>
              <a:ea typeface="Nunito"/>
              <a:cs typeface="Nunito"/>
              <a:sym typeface="Nunito"/>
            </a:endParaRPr>
          </a:p>
          <a:p>
            <a:pPr indent="0" lvl="0" marL="0" rtl="0" algn="l">
              <a:spcBef>
                <a:spcPts val="0"/>
              </a:spcBef>
              <a:spcAft>
                <a:spcPts val="0"/>
              </a:spcAft>
              <a:buNone/>
            </a:pPr>
            <a:r>
              <a:t/>
            </a:r>
            <a:endParaRPr b="1" sz="1038">
              <a:solidFill>
                <a:srgbClr val="606B18"/>
              </a:solidFill>
              <a:latin typeface="Nunito"/>
              <a:ea typeface="Nunito"/>
              <a:cs typeface="Nunito"/>
              <a:sym typeface="Nunito"/>
            </a:endParaRPr>
          </a:p>
          <a:p>
            <a:pPr indent="0" lvl="0" marL="0" rtl="0" algn="l">
              <a:spcBef>
                <a:spcPts val="0"/>
              </a:spcBef>
              <a:spcAft>
                <a:spcPts val="0"/>
              </a:spcAft>
              <a:buNone/>
            </a:pPr>
            <a:r>
              <a:rPr b="1" lang="en" sz="1138">
                <a:solidFill>
                  <a:srgbClr val="606B18"/>
                </a:solidFill>
                <a:latin typeface="Nunito"/>
                <a:ea typeface="Nunito"/>
                <a:cs typeface="Nunito"/>
                <a:sym typeface="Nunito"/>
              </a:rPr>
              <a:t>Avoid a never-ending TBR list by finding books catered to </a:t>
            </a:r>
            <a:r>
              <a:rPr b="1" i="1" lang="en" sz="1138" u="sng">
                <a:solidFill>
                  <a:srgbClr val="606B18"/>
                </a:solidFill>
                <a:latin typeface="Nunito"/>
                <a:ea typeface="Nunito"/>
                <a:cs typeface="Nunito"/>
                <a:sym typeface="Nunito"/>
              </a:rPr>
              <a:t>your</a:t>
            </a:r>
            <a:r>
              <a:rPr b="1" lang="en" sz="1138">
                <a:solidFill>
                  <a:srgbClr val="606B18"/>
                </a:solidFill>
                <a:latin typeface="Nunito"/>
                <a:ea typeface="Nunito"/>
                <a:cs typeface="Nunito"/>
                <a:sym typeface="Nunito"/>
              </a:rPr>
              <a:t> interests.</a:t>
            </a:r>
            <a:endParaRPr b="1" sz="1138">
              <a:solidFill>
                <a:srgbClr val="606B18"/>
              </a:solidFill>
              <a:latin typeface="Nunito"/>
              <a:ea typeface="Nunito"/>
              <a:cs typeface="Nunito"/>
              <a:sym typeface="Nunito"/>
            </a:endParaRPr>
          </a:p>
        </p:txBody>
      </p:sp>
      <p:sp>
        <p:nvSpPr>
          <p:cNvPr id="92" name="Google Shape;92;p14"/>
          <p:cNvSpPr txBox="1"/>
          <p:nvPr/>
        </p:nvSpPr>
        <p:spPr>
          <a:xfrm>
            <a:off x="854360" y="3436710"/>
            <a:ext cx="1368000" cy="336000"/>
          </a:xfrm>
          <a:prstGeom prst="rect">
            <a:avLst/>
          </a:prstGeom>
          <a:noFill/>
          <a:ln>
            <a:noFill/>
          </a:ln>
        </p:spPr>
        <p:txBody>
          <a:bodyPr anchorCtr="0" anchor="t" bIns="73925" lIns="73925" spcFirstLastPara="1" rIns="73925" wrap="square" tIns="73925">
            <a:spAutoFit/>
          </a:bodyPr>
          <a:lstStyle/>
          <a:p>
            <a:pPr indent="0" lvl="0" marL="0" rtl="0" algn="l">
              <a:spcBef>
                <a:spcPts val="0"/>
              </a:spcBef>
              <a:spcAft>
                <a:spcPts val="0"/>
              </a:spcAft>
              <a:buNone/>
            </a:pPr>
            <a:r>
              <a:rPr lang="en" sz="1213">
                <a:solidFill>
                  <a:srgbClr val="606B18"/>
                </a:solidFill>
                <a:latin typeface="Lexend Medium"/>
                <a:ea typeface="Lexend Medium"/>
                <a:cs typeface="Lexend Medium"/>
                <a:sym typeface="Lexend Medium"/>
              </a:rPr>
              <a:t>Lestat Hans</a:t>
            </a:r>
            <a:endParaRPr sz="1213">
              <a:solidFill>
                <a:srgbClr val="606B18"/>
              </a:solidFill>
              <a:latin typeface="Lexend Medium"/>
              <a:ea typeface="Lexend Medium"/>
              <a:cs typeface="Lexend Medium"/>
              <a:sym typeface="Lexend Medium"/>
            </a:endParaRPr>
          </a:p>
        </p:txBody>
      </p:sp>
      <p:sp>
        <p:nvSpPr>
          <p:cNvPr id="93" name="Google Shape;93;p14"/>
          <p:cNvSpPr txBox="1"/>
          <p:nvPr/>
        </p:nvSpPr>
        <p:spPr>
          <a:xfrm>
            <a:off x="828947" y="3680448"/>
            <a:ext cx="1026300" cy="303300"/>
          </a:xfrm>
          <a:prstGeom prst="rect">
            <a:avLst/>
          </a:prstGeom>
          <a:noFill/>
          <a:ln>
            <a:noFill/>
          </a:ln>
        </p:spPr>
        <p:txBody>
          <a:bodyPr anchorCtr="0" anchor="t" bIns="73925" lIns="73925" spcFirstLastPara="1" rIns="73925" wrap="square" tIns="73925">
            <a:spAutoFit/>
          </a:bodyPr>
          <a:lstStyle/>
          <a:p>
            <a:pPr indent="0" lvl="0" marL="0" rtl="0" algn="l">
              <a:spcBef>
                <a:spcPts val="0"/>
              </a:spcBef>
              <a:spcAft>
                <a:spcPts val="0"/>
              </a:spcAft>
              <a:buNone/>
            </a:pPr>
            <a:r>
              <a:rPr b="1" lang="en" sz="1000">
                <a:solidFill>
                  <a:srgbClr val="F6F1E9"/>
                </a:solidFill>
                <a:latin typeface="Nunito"/>
                <a:ea typeface="Nunito"/>
                <a:cs typeface="Nunito"/>
                <a:sym typeface="Nunito"/>
              </a:rPr>
              <a:t>STEERED. PR</a:t>
            </a:r>
            <a:endParaRPr b="1" sz="1000">
              <a:solidFill>
                <a:srgbClr val="F6F1E9"/>
              </a:solidFill>
              <a:latin typeface="Nunito"/>
              <a:ea typeface="Nunito"/>
              <a:cs typeface="Nunito"/>
              <a:sym typeface="Nunito"/>
            </a:endParaRPr>
          </a:p>
        </p:txBody>
      </p:sp>
      <p:pic>
        <p:nvPicPr>
          <p:cNvPr descr="quote icon. Filled quote icon for website design and mobile, app development. quote icon from filled text editor collection isolated on black background. (Provided by Getty Images)" id="94" name="Google Shape;94;p14"/>
          <p:cNvPicPr preferRelativeResize="0"/>
          <p:nvPr/>
        </p:nvPicPr>
        <p:blipFill>
          <a:blip r:embed="rId7">
            <a:alphaModFix/>
          </a:blip>
          <a:stretch>
            <a:fillRect/>
          </a:stretch>
        </p:blipFill>
        <p:spPr>
          <a:xfrm>
            <a:off x="1737571" y="4694213"/>
            <a:ext cx="336000" cy="336000"/>
          </a:xfrm>
          <a:prstGeom prst="roundRect">
            <a:avLst>
              <a:gd fmla="val 16667" name="adj"/>
            </a:avLst>
          </a:prstGeom>
          <a:noFill/>
          <a:ln cap="flat" cmpd="sng" w="7700">
            <a:solidFill>
              <a:srgbClr val="C9D67C"/>
            </a:solidFill>
            <a:prstDash val="solid"/>
            <a:round/>
            <a:headEnd len="sm" w="sm" type="none"/>
            <a:tailEnd len="sm" w="sm" type="none"/>
          </a:ln>
        </p:spPr>
      </p:pic>
      <p:pic>
        <p:nvPicPr>
          <p:cNvPr descr="Beautiful people portraits set (Provided by Getty Images)" id="95" name="Google Shape;95;p14"/>
          <p:cNvPicPr preferRelativeResize="0"/>
          <p:nvPr/>
        </p:nvPicPr>
        <p:blipFill rotWithShape="1">
          <a:blip r:embed="rId8">
            <a:alphaModFix/>
          </a:blip>
          <a:srcRect b="18658" l="75773" r="5516" t="50634"/>
          <a:stretch/>
        </p:blipFill>
        <p:spPr>
          <a:xfrm>
            <a:off x="416739" y="3513262"/>
            <a:ext cx="412200" cy="401700"/>
          </a:xfrm>
          <a:prstGeom prst="teardrop">
            <a:avLst>
              <a:gd fmla="val 100000" name="adj"/>
            </a:avLst>
          </a:prstGeom>
          <a:noFill/>
          <a:ln cap="flat" cmpd="sng" w="7325">
            <a:solidFill>
              <a:srgbClr val="C9D67C"/>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5DB"/>
        </a:solidFill>
      </p:bgPr>
    </p:bg>
    <p:spTree>
      <p:nvGrpSpPr>
        <p:cNvPr id="99" name="Shape 99"/>
        <p:cNvGrpSpPr/>
        <p:nvPr/>
      </p:nvGrpSpPr>
      <p:grpSpPr>
        <a:xfrm>
          <a:off x="0" y="0"/>
          <a:ext cx="0" cy="0"/>
          <a:chOff x="0" y="0"/>
          <a:chExt cx="0" cy="0"/>
        </a:xfrm>
      </p:grpSpPr>
      <p:pic>
        <p:nvPicPr>
          <p:cNvPr id="100" name="Google Shape;100;p15"/>
          <p:cNvPicPr preferRelativeResize="0"/>
          <p:nvPr/>
        </p:nvPicPr>
        <p:blipFill rotWithShape="1">
          <a:blip r:embed="rId3">
            <a:alphaModFix/>
          </a:blip>
          <a:srcRect b="7037" l="2382" r="0" t="0"/>
          <a:stretch/>
        </p:blipFill>
        <p:spPr>
          <a:xfrm>
            <a:off x="4256775" y="1905125"/>
            <a:ext cx="4467300" cy="2963100"/>
          </a:xfrm>
          <a:prstGeom prst="roundRect">
            <a:avLst>
              <a:gd fmla="val 7257" name="adj"/>
            </a:avLst>
          </a:prstGeom>
          <a:noFill/>
          <a:ln>
            <a:noFill/>
          </a:ln>
        </p:spPr>
      </p:pic>
      <p:pic>
        <p:nvPicPr>
          <p:cNvPr id="101" name="Google Shape;101;p15"/>
          <p:cNvPicPr preferRelativeResize="0"/>
          <p:nvPr/>
        </p:nvPicPr>
        <p:blipFill rotWithShape="1">
          <a:blip r:embed="rId4">
            <a:alphaModFix/>
          </a:blip>
          <a:srcRect b="2296" l="15782" r="0" t="0"/>
          <a:stretch/>
        </p:blipFill>
        <p:spPr>
          <a:xfrm rot="-9059450">
            <a:off x="5595894" y="3274334"/>
            <a:ext cx="2516314" cy="2067831"/>
          </a:xfrm>
          <a:prstGeom prst="rect">
            <a:avLst/>
          </a:prstGeom>
          <a:noFill/>
          <a:ln>
            <a:noFill/>
          </a:ln>
        </p:spPr>
      </p:pic>
      <p:pic>
        <p:nvPicPr>
          <p:cNvPr id="102" name="Google Shape;102;p15"/>
          <p:cNvPicPr preferRelativeResize="0"/>
          <p:nvPr/>
        </p:nvPicPr>
        <p:blipFill rotWithShape="1">
          <a:blip r:embed="rId4">
            <a:alphaModFix/>
          </a:blip>
          <a:srcRect b="2296" l="15782" r="0" t="0"/>
          <a:stretch/>
        </p:blipFill>
        <p:spPr>
          <a:xfrm flipH="1" rot="1478379">
            <a:off x="6356534" y="2840002"/>
            <a:ext cx="2556604" cy="2100923"/>
          </a:xfrm>
          <a:prstGeom prst="rect">
            <a:avLst/>
          </a:prstGeom>
          <a:noFill/>
          <a:ln>
            <a:noFill/>
          </a:ln>
        </p:spPr>
      </p:pic>
      <p:sp>
        <p:nvSpPr>
          <p:cNvPr id="103" name="Google Shape;103;p15"/>
          <p:cNvSpPr txBox="1"/>
          <p:nvPr/>
        </p:nvSpPr>
        <p:spPr>
          <a:xfrm>
            <a:off x="4484050" y="168150"/>
            <a:ext cx="3957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61705A"/>
                </a:solidFill>
                <a:latin typeface="Lexend SemiBold"/>
                <a:ea typeface="Lexend SemiBold"/>
                <a:cs typeface="Lexend SemiBold"/>
                <a:sym typeface="Lexend SemiBold"/>
              </a:rPr>
              <a:t>‘ HOW </a:t>
            </a:r>
            <a:r>
              <a:rPr lang="en" sz="2000">
                <a:solidFill>
                  <a:srgbClr val="5F4F41"/>
                </a:solidFill>
                <a:latin typeface="Lexend SemiBold"/>
                <a:ea typeface="Lexend SemiBold"/>
                <a:cs typeface="Lexend SemiBold"/>
                <a:sym typeface="Lexend SemiBold"/>
              </a:rPr>
              <a:t>STEERED. </a:t>
            </a:r>
            <a:r>
              <a:rPr lang="en" sz="2000">
                <a:solidFill>
                  <a:srgbClr val="61705A"/>
                </a:solidFill>
                <a:latin typeface="Lexend SemiBold"/>
                <a:ea typeface="Lexend SemiBold"/>
                <a:cs typeface="Lexend SemiBold"/>
                <a:sym typeface="Lexend SemiBold"/>
              </a:rPr>
              <a:t>WORKS ’</a:t>
            </a:r>
            <a:endParaRPr sz="2000">
              <a:solidFill>
                <a:srgbClr val="61705A"/>
              </a:solidFill>
              <a:latin typeface="Lexend SemiBold"/>
              <a:ea typeface="Lexend SemiBold"/>
              <a:cs typeface="Lexend SemiBold"/>
              <a:sym typeface="Lexend SemiBold"/>
            </a:endParaRPr>
          </a:p>
        </p:txBody>
      </p:sp>
      <p:sp>
        <p:nvSpPr>
          <p:cNvPr id="104" name="Google Shape;104;p15"/>
          <p:cNvSpPr/>
          <p:nvPr/>
        </p:nvSpPr>
        <p:spPr>
          <a:xfrm>
            <a:off x="7449900" y="3226925"/>
            <a:ext cx="1694100" cy="1916700"/>
          </a:xfrm>
          <a:prstGeom prst="round2SameRect">
            <a:avLst>
              <a:gd fmla="val 43494" name="adj1"/>
              <a:gd fmla="val 0" name="adj2"/>
            </a:avLst>
          </a:prstGeom>
          <a:solidFill>
            <a:srgbClr val="606B18"/>
          </a:solidFill>
          <a:ln cap="flat" cmpd="sng" w="9525">
            <a:solidFill>
              <a:srgbClr val="606B1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p15"/>
          <p:cNvSpPr txBox="1"/>
          <p:nvPr>
            <p:ph idx="1" type="body"/>
          </p:nvPr>
        </p:nvSpPr>
        <p:spPr>
          <a:xfrm>
            <a:off x="7449900" y="3551675"/>
            <a:ext cx="1694100" cy="1325100"/>
          </a:xfrm>
          <a:prstGeom prst="rect">
            <a:avLst/>
          </a:prstGeom>
        </p:spPr>
        <p:txBody>
          <a:bodyPr anchorCtr="0" anchor="ctr" bIns="91425" lIns="91425" spcFirstLastPara="1" rIns="91425" wrap="square" tIns="91425">
            <a:noAutofit/>
          </a:bodyPr>
          <a:lstStyle/>
          <a:p>
            <a:pPr indent="0" lvl="0" marL="0" rtl="0" algn="l">
              <a:lnSpc>
                <a:spcPct val="95000"/>
              </a:lnSpc>
              <a:spcBef>
                <a:spcPts val="0"/>
              </a:spcBef>
              <a:spcAft>
                <a:spcPts val="1200"/>
              </a:spcAft>
              <a:buClr>
                <a:schemeClr val="dk1"/>
              </a:buClr>
              <a:buSzPts val="275"/>
              <a:buFont typeface="Arial"/>
              <a:buNone/>
            </a:pPr>
            <a:r>
              <a:rPr b="1" lang="en" sz="1200">
                <a:solidFill>
                  <a:srgbClr val="D7E2C0"/>
                </a:solidFill>
                <a:latin typeface="Lexend"/>
                <a:ea typeface="Lexend"/>
                <a:cs typeface="Lexend"/>
                <a:sym typeface="Lexend"/>
              </a:rPr>
              <a:t>70% of consumers</a:t>
            </a:r>
            <a:r>
              <a:rPr lang="en" sz="1200">
                <a:solidFill>
                  <a:srgbClr val="D7E2C0"/>
                </a:solidFill>
                <a:latin typeface="Lexend Medium"/>
                <a:ea typeface="Lexend Medium"/>
                <a:cs typeface="Lexend Medium"/>
                <a:sym typeface="Lexend Medium"/>
              </a:rPr>
              <a:t> struggle with indecision and confusion known as </a:t>
            </a:r>
            <a:r>
              <a:rPr b="1" lang="en" sz="1200">
                <a:solidFill>
                  <a:srgbClr val="5F4F41"/>
                </a:solidFill>
                <a:highlight>
                  <a:srgbClr val="BD935B"/>
                </a:highlight>
                <a:latin typeface="Lexend"/>
                <a:ea typeface="Lexend"/>
                <a:cs typeface="Lexend"/>
                <a:sym typeface="Lexend"/>
              </a:rPr>
              <a:t>decision paralysis</a:t>
            </a:r>
            <a:endParaRPr b="1" sz="1200">
              <a:solidFill>
                <a:srgbClr val="D7E2C0"/>
              </a:solidFill>
              <a:highlight>
                <a:srgbClr val="BD935B"/>
              </a:highlight>
              <a:latin typeface="Lexend"/>
              <a:ea typeface="Lexend"/>
              <a:cs typeface="Lexend"/>
              <a:sym typeface="Lexend"/>
            </a:endParaRPr>
          </a:p>
        </p:txBody>
      </p:sp>
      <p:grpSp>
        <p:nvGrpSpPr>
          <p:cNvPr id="106" name="Google Shape;106;p15"/>
          <p:cNvGrpSpPr/>
          <p:nvPr/>
        </p:nvGrpSpPr>
        <p:grpSpPr>
          <a:xfrm rot="-5400000">
            <a:off x="3643850" y="710750"/>
            <a:ext cx="1422050" cy="196200"/>
            <a:chOff x="4895850" y="3948300"/>
            <a:chExt cx="1422050" cy="196200"/>
          </a:xfrm>
        </p:grpSpPr>
        <p:cxnSp>
          <p:nvCxnSpPr>
            <p:cNvPr id="107" name="Google Shape;107;p15"/>
            <p:cNvCxnSpPr/>
            <p:nvPr/>
          </p:nvCxnSpPr>
          <p:spPr>
            <a:xfrm>
              <a:off x="4895850" y="4020000"/>
              <a:ext cx="1312500" cy="21300"/>
            </a:xfrm>
            <a:prstGeom prst="straightConnector1">
              <a:avLst/>
            </a:prstGeom>
            <a:noFill/>
            <a:ln cap="flat" cmpd="sng" w="28575">
              <a:solidFill>
                <a:srgbClr val="CCAB8E"/>
              </a:solidFill>
              <a:prstDash val="solid"/>
              <a:round/>
              <a:headEnd len="med" w="med" type="none"/>
              <a:tailEnd len="med" w="med" type="none"/>
            </a:ln>
          </p:spPr>
        </p:cxnSp>
        <p:sp>
          <p:nvSpPr>
            <p:cNvPr id="108" name="Google Shape;108;p15"/>
            <p:cNvSpPr/>
            <p:nvPr/>
          </p:nvSpPr>
          <p:spPr>
            <a:xfrm>
              <a:off x="6121700" y="3948300"/>
              <a:ext cx="196200" cy="196200"/>
            </a:xfrm>
            <a:prstGeom prst="ellipse">
              <a:avLst/>
            </a:prstGeom>
            <a:solidFill>
              <a:srgbClr val="CCAB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3DDD9"/>
                </a:solidFill>
              </a:endParaRPr>
            </a:p>
          </p:txBody>
        </p:sp>
      </p:grpSp>
      <p:pic>
        <p:nvPicPr>
          <p:cNvPr descr="quote icon. Filled quote icon for website design and mobile, app development. quote icon from filled text editor collection isolated on black background. (Provided by Getty Images)" id="109" name="Google Shape;109;p15"/>
          <p:cNvPicPr preferRelativeResize="0"/>
          <p:nvPr/>
        </p:nvPicPr>
        <p:blipFill>
          <a:blip r:embed="rId5">
            <a:alphaModFix/>
          </a:blip>
          <a:stretch>
            <a:fillRect/>
          </a:stretch>
        </p:blipFill>
        <p:spPr>
          <a:xfrm>
            <a:off x="8758295" y="3226930"/>
            <a:ext cx="304500" cy="319500"/>
          </a:xfrm>
          <a:prstGeom prst="roundRect">
            <a:avLst>
              <a:gd fmla="val 16667" name="adj"/>
            </a:avLst>
          </a:prstGeom>
          <a:noFill/>
          <a:ln>
            <a:noFill/>
          </a:ln>
        </p:spPr>
      </p:pic>
      <p:pic>
        <p:nvPicPr>
          <p:cNvPr id="110" name="Google Shape;110;p15"/>
          <p:cNvPicPr preferRelativeResize="0"/>
          <p:nvPr/>
        </p:nvPicPr>
        <p:blipFill>
          <a:blip r:embed="rId6">
            <a:alphaModFix/>
          </a:blip>
          <a:stretch>
            <a:fillRect/>
          </a:stretch>
        </p:blipFill>
        <p:spPr>
          <a:xfrm>
            <a:off x="197825" y="1990300"/>
            <a:ext cx="3706800" cy="1303800"/>
          </a:xfrm>
          <a:prstGeom prst="roundRect">
            <a:avLst>
              <a:gd fmla="val 16667" name="adj"/>
            </a:avLst>
          </a:prstGeom>
          <a:noFill/>
          <a:ln>
            <a:noFill/>
          </a:ln>
        </p:spPr>
      </p:pic>
      <p:pic>
        <p:nvPicPr>
          <p:cNvPr id="111" name="Google Shape;111;p15"/>
          <p:cNvPicPr preferRelativeResize="0"/>
          <p:nvPr/>
        </p:nvPicPr>
        <p:blipFill>
          <a:blip r:embed="rId7">
            <a:alphaModFix/>
          </a:blip>
          <a:stretch>
            <a:fillRect/>
          </a:stretch>
        </p:blipFill>
        <p:spPr>
          <a:xfrm>
            <a:off x="197825" y="3562325"/>
            <a:ext cx="3748800" cy="1303800"/>
          </a:xfrm>
          <a:prstGeom prst="roundRect">
            <a:avLst>
              <a:gd fmla="val 16667" name="adj"/>
            </a:avLst>
          </a:prstGeom>
          <a:noFill/>
          <a:ln>
            <a:noFill/>
          </a:ln>
        </p:spPr>
      </p:pic>
      <p:sp>
        <p:nvSpPr>
          <p:cNvPr id="112" name="Google Shape;112;p15"/>
          <p:cNvSpPr txBox="1"/>
          <p:nvPr/>
        </p:nvSpPr>
        <p:spPr>
          <a:xfrm>
            <a:off x="4645300" y="660750"/>
            <a:ext cx="4417500" cy="130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rgbClr val="61705A"/>
                </a:solidFill>
                <a:latin typeface="Lexend"/>
                <a:ea typeface="Lexend"/>
                <a:cs typeface="Lexend"/>
                <a:sym typeface="Lexend"/>
              </a:rPr>
              <a:t>STEERED blends curated content with OpenLibrary metadata to create a calm, </a:t>
            </a:r>
            <a:r>
              <a:rPr b="1" lang="en" sz="1300">
                <a:solidFill>
                  <a:srgbClr val="5F4F41"/>
                </a:solidFill>
                <a:highlight>
                  <a:srgbClr val="A2A879"/>
                </a:highlight>
                <a:latin typeface="Lexend"/>
                <a:ea typeface="Lexend"/>
                <a:cs typeface="Lexend"/>
                <a:sym typeface="Lexend"/>
              </a:rPr>
              <a:t>easy-to-navigate</a:t>
            </a:r>
            <a:r>
              <a:rPr lang="en" sz="1300">
                <a:solidFill>
                  <a:srgbClr val="5F4F41"/>
                </a:solidFill>
                <a:latin typeface="Lexend"/>
                <a:ea typeface="Lexend"/>
                <a:cs typeface="Lexend"/>
                <a:sym typeface="Lexend"/>
              </a:rPr>
              <a:t> </a:t>
            </a:r>
            <a:r>
              <a:rPr lang="en" sz="1300">
                <a:solidFill>
                  <a:srgbClr val="61705A"/>
                </a:solidFill>
                <a:latin typeface="Lexend"/>
                <a:ea typeface="Lexend"/>
                <a:cs typeface="Lexend"/>
                <a:sym typeface="Lexend"/>
              </a:rPr>
              <a:t>experience that simplifies decision-making.</a:t>
            </a:r>
            <a:endParaRPr sz="1300">
              <a:solidFill>
                <a:srgbClr val="61705A"/>
              </a:solidFill>
              <a:latin typeface="Lexend"/>
              <a:ea typeface="Lexend"/>
              <a:cs typeface="Lexend"/>
              <a:sym typeface="Lexend"/>
            </a:endParaRPr>
          </a:p>
          <a:p>
            <a:pPr indent="0" lvl="0" marL="0" rtl="0" algn="l">
              <a:spcBef>
                <a:spcPts val="1200"/>
              </a:spcBef>
              <a:spcAft>
                <a:spcPts val="0"/>
              </a:spcAft>
              <a:buNone/>
            </a:pPr>
            <a:r>
              <a:t/>
            </a:r>
            <a:endParaRPr sz="1800">
              <a:solidFill>
                <a:schemeClr val="dk2"/>
              </a:solidFill>
            </a:endParaRPr>
          </a:p>
        </p:txBody>
      </p:sp>
      <p:pic>
        <p:nvPicPr>
          <p:cNvPr id="113" name="Google Shape;113;p15"/>
          <p:cNvPicPr preferRelativeResize="0"/>
          <p:nvPr/>
        </p:nvPicPr>
        <p:blipFill>
          <a:blip r:embed="rId8">
            <a:alphaModFix/>
          </a:blip>
          <a:stretch>
            <a:fillRect/>
          </a:stretch>
        </p:blipFill>
        <p:spPr>
          <a:xfrm>
            <a:off x="197825" y="526490"/>
            <a:ext cx="3706800" cy="1219200"/>
          </a:xfrm>
          <a:prstGeom prst="roundRect">
            <a:avLst>
              <a:gd fmla="val 14864" name="adj"/>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 name="Shape 117"/>
        <p:cNvGrpSpPr/>
        <p:nvPr/>
      </p:nvGrpSpPr>
      <p:grpSpPr>
        <a:xfrm>
          <a:off x="0" y="0"/>
          <a:ext cx="0" cy="0"/>
          <a:chOff x="0" y="0"/>
          <a:chExt cx="0" cy="0"/>
        </a:xfrm>
      </p:grpSpPr>
      <p:sp>
        <p:nvSpPr>
          <p:cNvPr id="118" name="Google Shape;118;p16"/>
          <p:cNvSpPr/>
          <p:nvPr/>
        </p:nvSpPr>
        <p:spPr>
          <a:xfrm>
            <a:off x="150150" y="221975"/>
            <a:ext cx="2929500" cy="4557000"/>
          </a:xfrm>
          <a:prstGeom prst="roundRect">
            <a:avLst>
              <a:gd fmla="val 5061" name="adj"/>
            </a:avLst>
          </a:prstGeom>
          <a:solidFill>
            <a:srgbClr val="606B18"/>
          </a:solidFill>
          <a:ln cap="flat" cmpd="sng" w="9525">
            <a:solidFill>
              <a:srgbClr val="606B1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16"/>
          <p:cNvSpPr/>
          <p:nvPr/>
        </p:nvSpPr>
        <p:spPr>
          <a:xfrm>
            <a:off x="6900443" y="2863031"/>
            <a:ext cx="2243700" cy="2280900"/>
          </a:xfrm>
          <a:prstGeom prst="snipRoundRect">
            <a:avLst>
              <a:gd fmla="val 11627" name="adj1"/>
              <a:gd fmla="val 0" name="adj2"/>
            </a:avLst>
          </a:prstGeom>
          <a:solidFill>
            <a:srgbClr val="B19172"/>
          </a:solidFill>
          <a:ln cap="flat" cmpd="sng" w="8100">
            <a:solidFill>
              <a:srgbClr val="B19172"/>
            </a:solidFill>
            <a:prstDash val="solid"/>
            <a:round/>
            <a:headEnd len="sm" w="sm" type="none"/>
            <a:tailEnd len="sm" w="sm" type="none"/>
          </a:ln>
        </p:spPr>
        <p:txBody>
          <a:bodyPr anchorCtr="0" anchor="ctr" bIns="77950" lIns="77950" spcFirstLastPara="1" rIns="77950" wrap="square" tIns="77950">
            <a:noAutofit/>
          </a:bodyPr>
          <a:lstStyle/>
          <a:p>
            <a:pPr indent="0" lvl="0" marL="0" rtl="0" algn="ctr">
              <a:spcBef>
                <a:spcPts val="0"/>
              </a:spcBef>
              <a:spcAft>
                <a:spcPts val="0"/>
              </a:spcAft>
              <a:buNone/>
            </a:pPr>
            <a:r>
              <a:t/>
            </a:r>
            <a:endParaRPr sz="1364">
              <a:solidFill>
                <a:srgbClr val="5F4F41"/>
              </a:solidFill>
              <a:latin typeface="Lexend"/>
              <a:ea typeface="Lexend"/>
              <a:cs typeface="Lexend"/>
              <a:sym typeface="Lexend"/>
            </a:endParaRPr>
          </a:p>
          <a:p>
            <a:pPr indent="0" lvl="0" marL="0" rtl="0" algn="ctr">
              <a:spcBef>
                <a:spcPts val="0"/>
              </a:spcBef>
              <a:spcAft>
                <a:spcPts val="0"/>
              </a:spcAft>
              <a:buNone/>
            </a:pPr>
            <a:r>
              <a:rPr lang="en" sz="1364">
                <a:solidFill>
                  <a:srgbClr val="5F4F41"/>
                </a:solidFill>
                <a:latin typeface="Lexend"/>
                <a:ea typeface="Lexend"/>
                <a:cs typeface="Lexend"/>
                <a:sym typeface="Lexend"/>
              </a:rPr>
              <a:t>Find books tailored to </a:t>
            </a:r>
            <a:r>
              <a:rPr b="1" lang="en" sz="1364">
                <a:solidFill>
                  <a:srgbClr val="5F4F41"/>
                </a:solidFill>
                <a:latin typeface="Lexend"/>
                <a:ea typeface="Lexend"/>
                <a:cs typeface="Lexend"/>
                <a:sym typeface="Lexend"/>
              </a:rPr>
              <a:t>your </a:t>
            </a:r>
            <a:r>
              <a:rPr lang="en" sz="1364">
                <a:solidFill>
                  <a:srgbClr val="5F4F41"/>
                </a:solidFill>
                <a:latin typeface="Lexend"/>
                <a:ea typeface="Lexend"/>
                <a:cs typeface="Lexend"/>
                <a:sym typeface="Lexend"/>
              </a:rPr>
              <a:t>preferences, </a:t>
            </a:r>
            <a:endParaRPr sz="1364">
              <a:solidFill>
                <a:srgbClr val="5F4F41"/>
              </a:solidFill>
              <a:latin typeface="Lexend"/>
              <a:ea typeface="Lexend"/>
              <a:cs typeface="Lexend"/>
              <a:sym typeface="Lexend"/>
            </a:endParaRPr>
          </a:p>
          <a:p>
            <a:pPr indent="0" lvl="0" marL="0" rtl="0" algn="ctr">
              <a:spcBef>
                <a:spcPts val="0"/>
              </a:spcBef>
              <a:spcAft>
                <a:spcPts val="0"/>
              </a:spcAft>
              <a:buNone/>
            </a:pPr>
            <a:r>
              <a:rPr lang="en" sz="1364">
                <a:solidFill>
                  <a:srgbClr val="5F4F41"/>
                </a:solidFill>
                <a:latin typeface="Lexend"/>
                <a:ea typeface="Lexend"/>
                <a:cs typeface="Lexend"/>
                <a:sym typeface="Lexend"/>
              </a:rPr>
              <a:t>d</a:t>
            </a:r>
            <a:r>
              <a:rPr lang="en" sz="1364">
                <a:solidFill>
                  <a:srgbClr val="5F4F41"/>
                </a:solidFill>
                <a:latin typeface="Lexend"/>
                <a:ea typeface="Lexend"/>
                <a:cs typeface="Lexend"/>
                <a:sym typeface="Lexend"/>
              </a:rPr>
              <a:t>iscover </a:t>
            </a:r>
            <a:r>
              <a:rPr b="1" lang="en" sz="1364">
                <a:solidFill>
                  <a:srgbClr val="5F4F41"/>
                </a:solidFill>
                <a:latin typeface="Lexend"/>
                <a:ea typeface="Lexend"/>
                <a:cs typeface="Lexend"/>
                <a:sym typeface="Lexend"/>
              </a:rPr>
              <a:t>your new favorite author</a:t>
            </a:r>
            <a:r>
              <a:rPr lang="en" sz="1364">
                <a:solidFill>
                  <a:srgbClr val="5F4F41"/>
                </a:solidFill>
                <a:latin typeface="Lexend"/>
                <a:ea typeface="Lexend"/>
                <a:cs typeface="Lexend"/>
                <a:sym typeface="Lexend"/>
              </a:rPr>
              <a:t>, </a:t>
            </a:r>
            <a:r>
              <a:rPr lang="en" sz="1364">
                <a:solidFill>
                  <a:srgbClr val="5F4F41"/>
                </a:solidFill>
                <a:latin typeface="Lexend"/>
                <a:ea typeface="Lexend"/>
                <a:cs typeface="Lexend"/>
                <a:sym typeface="Lexend"/>
              </a:rPr>
              <a:t>a</a:t>
            </a:r>
            <a:r>
              <a:rPr lang="en" sz="1364">
                <a:solidFill>
                  <a:srgbClr val="5F4F41"/>
                </a:solidFill>
                <a:latin typeface="Lexend"/>
                <a:ea typeface="Lexend"/>
                <a:cs typeface="Lexend"/>
                <a:sym typeface="Lexend"/>
              </a:rPr>
              <a:t>nd build community with others</a:t>
            </a:r>
            <a:r>
              <a:rPr lang="en" sz="1364">
                <a:solidFill>
                  <a:srgbClr val="5F4F41"/>
                </a:solidFill>
                <a:latin typeface="Lexend"/>
                <a:ea typeface="Lexend"/>
                <a:cs typeface="Lexend"/>
                <a:sym typeface="Lexend"/>
              </a:rPr>
              <a:t> </a:t>
            </a:r>
            <a:r>
              <a:rPr b="1" lang="en" sz="1364">
                <a:solidFill>
                  <a:srgbClr val="5F4F41"/>
                </a:solidFill>
                <a:latin typeface="Lexend"/>
                <a:ea typeface="Lexend"/>
                <a:cs typeface="Lexend"/>
                <a:sym typeface="Lexend"/>
              </a:rPr>
              <a:t>through reviews</a:t>
            </a:r>
            <a:r>
              <a:rPr b="1" lang="en" sz="1364">
                <a:solidFill>
                  <a:srgbClr val="5F4F41"/>
                </a:solidFill>
                <a:latin typeface="Lexend"/>
                <a:ea typeface="Lexend"/>
                <a:cs typeface="Lexend"/>
                <a:sym typeface="Lexend"/>
              </a:rPr>
              <a:t>.</a:t>
            </a:r>
            <a:endParaRPr b="1" sz="1364">
              <a:solidFill>
                <a:srgbClr val="5F4F41"/>
              </a:solidFill>
              <a:latin typeface="Lexend"/>
              <a:ea typeface="Lexend"/>
              <a:cs typeface="Lexend"/>
              <a:sym typeface="Lexend"/>
            </a:endParaRPr>
          </a:p>
        </p:txBody>
      </p:sp>
      <p:pic>
        <p:nvPicPr>
          <p:cNvPr descr="Beautiful people portraits set (Provided by Getty Images)" id="120" name="Google Shape;120;p16"/>
          <p:cNvPicPr preferRelativeResize="0"/>
          <p:nvPr/>
        </p:nvPicPr>
        <p:blipFill rotWithShape="1">
          <a:blip r:embed="rId4">
            <a:alphaModFix/>
          </a:blip>
          <a:srcRect b="21790" l="31511" r="49778" t="47502"/>
          <a:stretch/>
        </p:blipFill>
        <p:spPr>
          <a:xfrm>
            <a:off x="6660125" y="2538375"/>
            <a:ext cx="785100" cy="764700"/>
          </a:xfrm>
          <a:prstGeom prst="ellipse">
            <a:avLst/>
          </a:prstGeom>
          <a:noFill/>
          <a:ln cap="flat" cmpd="sng" w="64950">
            <a:solidFill>
              <a:srgbClr val="B19172"/>
            </a:solidFill>
            <a:prstDash val="solid"/>
            <a:round/>
            <a:headEnd len="sm" w="sm" type="none"/>
            <a:tailEnd len="sm" w="sm" type="none"/>
          </a:ln>
        </p:spPr>
      </p:pic>
      <p:grpSp>
        <p:nvGrpSpPr>
          <p:cNvPr id="121" name="Google Shape;121;p16"/>
          <p:cNvGrpSpPr/>
          <p:nvPr/>
        </p:nvGrpSpPr>
        <p:grpSpPr>
          <a:xfrm rot="10800000">
            <a:off x="8467634" y="2905600"/>
            <a:ext cx="552141" cy="167280"/>
            <a:chOff x="146006" y="197524"/>
            <a:chExt cx="647597" cy="196200"/>
          </a:xfrm>
        </p:grpSpPr>
        <p:sp>
          <p:nvSpPr>
            <p:cNvPr id="122" name="Google Shape;122;p16"/>
            <p:cNvSpPr/>
            <p:nvPr/>
          </p:nvSpPr>
          <p:spPr>
            <a:xfrm rot="5400000">
              <a:off x="369988" y="197524"/>
              <a:ext cx="196200" cy="196200"/>
            </a:xfrm>
            <a:prstGeom prst="ellipse">
              <a:avLst/>
            </a:prstGeom>
            <a:solidFill>
              <a:srgbClr val="AA8E76"/>
            </a:solidFill>
            <a:ln cap="flat" cmpd="sng" w="12250">
              <a:solidFill>
                <a:srgbClr val="003127"/>
              </a:solidFill>
              <a:prstDash val="solid"/>
              <a:round/>
              <a:headEnd len="sm" w="sm" type="none"/>
              <a:tailEnd len="sm" w="sm" type="none"/>
            </a:ln>
          </p:spPr>
          <p:txBody>
            <a:bodyPr anchorCtr="0" anchor="ctr" bIns="15250" lIns="15250" spcFirstLastPara="1" rIns="15250" wrap="square" tIns="15250">
              <a:noAutofit/>
            </a:bodyPr>
            <a:lstStyle/>
            <a:p>
              <a:pPr indent="0" lvl="0" marL="0" rtl="0" algn="ctr">
                <a:spcBef>
                  <a:spcPts val="0"/>
                </a:spcBef>
                <a:spcAft>
                  <a:spcPts val="0"/>
                </a:spcAft>
                <a:buNone/>
              </a:pPr>
              <a:r>
                <a:t/>
              </a:r>
              <a:endParaRPr sz="234"/>
            </a:p>
          </p:txBody>
        </p:sp>
        <p:sp>
          <p:nvSpPr>
            <p:cNvPr id="123" name="Google Shape;123;p16"/>
            <p:cNvSpPr/>
            <p:nvPr/>
          </p:nvSpPr>
          <p:spPr>
            <a:xfrm rot="5400000">
              <a:off x="146006" y="197524"/>
              <a:ext cx="196200" cy="196200"/>
            </a:xfrm>
            <a:prstGeom prst="ellipse">
              <a:avLst/>
            </a:prstGeom>
            <a:solidFill>
              <a:srgbClr val="8F9916"/>
            </a:solidFill>
            <a:ln cap="flat" cmpd="sng" w="12250">
              <a:solidFill>
                <a:srgbClr val="003127"/>
              </a:solidFill>
              <a:prstDash val="solid"/>
              <a:round/>
              <a:headEnd len="sm" w="sm" type="none"/>
              <a:tailEnd len="sm" w="sm" type="none"/>
            </a:ln>
          </p:spPr>
          <p:txBody>
            <a:bodyPr anchorCtr="0" anchor="ctr" bIns="15250" lIns="15250" spcFirstLastPara="1" rIns="15250" wrap="square" tIns="15250">
              <a:noAutofit/>
            </a:bodyPr>
            <a:lstStyle/>
            <a:p>
              <a:pPr indent="0" lvl="0" marL="0" rtl="0" algn="ctr">
                <a:spcBef>
                  <a:spcPts val="0"/>
                </a:spcBef>
                <a:spcAft>
                  <a:spcPts val="0"/>
                </a:spcAft>
                <a:buNone/>
              </a:pPr>
              <a:r>
                <a:t/>
              </a:r>
              <a:endParaRPr sz="234"/>
            </a:p>
          </p:txBody>
        </p:sp>
        <p:sp>
          <p:nvSpPr>
            <p:cNvPr id="124" name="Google Shape;124;p16"/>
            <p:cNvSpPr/>
            <p:nvPr/>
          </p:nvSpPr>
          <p:spPr>
            <a:xfrm rot="5400000">
              <a:off x="597403" y="197524"/>
              <a:ext cx="196200" cy="196200"/>
            </a:xfrm>
            <a:prstGeom prst="ellipse">
              <a:avLst/>
            </a:prstGeom>
            <a:solidFill>
              <a:srgbClr val="DABEA6"/>
            </a:solidFill>
            <a:ln cap="flat" cmpd="sng" w="12250">
              <a:solidFill>
                <a:srgbClr val="003127"/>
              </a:solidFill>
              <a:prstDash val="solid"/>
              <a:round/>
              <a:headEnd len="sm" w="sm" type="none"/>
              <a:tailEnd len="sm" w="sm" type="none"/>
            </a:ln>
          </p:spPr>
          <p:txBody>
            <a:bodyPr anchorCtr="0" anchor="ctr" bIns="15250" lIns="15250" spcFirstLastPara="1" rIns="15250" wrap="square" tIns="15250">
              <a:noAutofit/>
            </a:bodyPr>
            <a:lstStyle/>
            <a:p>
              <a:pPr indent="0" lvl="0" marL="0" rtl="0" algn="ctr">
                <a:spcBef>
                  <a:spcPts val="0"/>
                </a:spcBef>
                <a:spcAft>
                  <a:spcPts val="0"/>
                </a:spcAft>
                <a:buNone/>
              </a:pPr>
              <a:r>
                <a:t/>
              </a:r>
              <a:endParaRPr sz="234"/>
            </a:p>
          </p:txBody>
        </p:sp>
      </p:grpSp>
      <p:pic>
        <p:nvPicPr>
          <p:cNvPr descr="search icon. Filled search icon for website design and mobile, app development. search icon from filled essential compilation collection isolated on black background. (Provided by Getty Images)" id="125" name="Google Shape;125;p16"/>
          <p:cNvPicPr preferRelativeResize="0"/>
          <p:nvPr/>
        </p:nvPicPr>
        <p:blipFill>
          <a:blip r:embed="rId5">
            <a:alphaModFix/>
          </a:blip>
          <a:stretch>
            <a:fillRect/>
          </a:stretch>
        </p:blipFill>
        <p:spPr>
          <a:xfrm>
            <a:off x="512100" y="4298001"/>
            <a:ext cx="688800" cy="688800"/>
          </a:xfrm>
          <a:prstGeom prst="ellipse">
            <a:avLst/>
          </a:prstGeom>
          <a:noFill/>
          <a:ln cap="flat" cmpd="sng" w="57075">
            <a:solidFill>
              <a:srgbClr val="606B18"/>
            </a:solidFill>
            <a:prstDash val="solid"/>
            <a:round/>
            <a:headEnd len="sm" w="sm" type="none"/>
            <a:tailEnd len="sm" w="sm" type="none"/>
          </a:ln>
        </p:spPr>
      </p:pic>
      <p:pic>
        <p:nvPicPr>
          <p:cNvPr descr="bookmark icon. Filled bookmark icon for website design and mobile, app development. bookmark icon from filled essential compilation collection isolated on black background. (Provided by Getty Images)" id="126" name="Google Shape;126;p16"/>
          <p:cNvPicPr preferRelativeResize="0"/>
          <p:nvPr/>
        </p:nvPicPr>
        <p:blipFill>
          <a:blip r:embed="rId6">
            <a:alphaModFix/>
          </a:blip>
          <a:stretch>
            <a:fillRect/>
          </a:stretch>
        </p:blipFill>
        <p:spPr>
          <a:xfrm>
            <a:off x="1950924" y="4298000"/>
            <a:ext cx="688800" cy="688800"/>
          </a:xfrm>
          <a:prstGeom prst="ellipse">
            <a:avLst/>
          </a:prstGeom>
          <a:noFill/>
          <a:ln cap="flat" cmpd="sng" w="57075">
            <a:solidFill>
              <a:srgbClr val="606B18"/>
            </a:solidFill>
            <a:prstDash val="solid"/>
            <a:round/>
            <a:headEnd len="sm" w="sm" type="none"/>
            <a:tailEnd len="sm" w="sm" type="none"/>
          </a:ln>
        </p:spPr>
      </p:pic>
      <p:pic>
        <p:nvPicPr>
          <p:cNvPr descr="filter icon. Filled filter icon for website design and mobile, app development. filter icon from filled basic ui collection isolated on black background. (Provided by Getty Images)" id="127" name="Google Shape;127;p16"/>
          <p:cNvPicPr preferRelativeResize="0"/>
          <p:nvPr/>
        </p:nvPicPr>
        <p:blipFill>
          <a:blip r:embed="rId7">
            <a:alphaModFix/>
          </a:blip>
          <a:stretch>
            <a:fillRect/>
          </a:stretch>
        </p:blipFill>
        <p:spPr>
          <a:xfrm>
            <a:off x="1200896" y="4084567"/>
            <a:ext cx="828000" cy="828000"/>
          </a:xfrm>
          <a:prstGeom prst="ellipse">
            <a:avLst/>
          </a:prstGeom>
          <a:noFill/>
          <a:ln cap="flat" cmpd="sng" w="60675">
            <a:solidFill>
              <a:srgbClr val="606B18"/>
            </a:solidFill>
            <a:prstDash val="solid"/>
            <a:round/>
            <a:headEnd len="sm" w="sm" type="none"/>
            <a:tailEnd len="sm" w="sm" type="none"/>
          </a:ln>
        </p:spPr>
      </p:pic>
      <p:sp>
        <p:nvSpPr>
          <p:cNvPr id="128" name="Google Shape;128;p16"/>
          <p:cNvSpPr txBox="1"/>
          <p:nvPr/>
        </p:nvSpPr>
        <p:spPr>
          <a:xfrm>
            <a:off x="-31200" y="3329925"/>
            <a:ext cx="3292200" cy="95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Lexend ExtraBold"/>
                <a:ea typeface="Lexend ExtraBold"/>
                <a:cs typeface="Lexend ExtraBold"/>
                <a:sym typeface="Lexend ExtraBold"/>
              </a:rPr>
              <a:t>SEARCH. FILTER. SAVE.</a:t>
            </a:r>
            <a:endParaRPr sz="1500">
              <a:solidFill>
                <a:schemeClr val="dk1"/>
              </a:solidFill>
              <a:latin typeface="Lexend ExtraBold"/>
              <a:ea typeface="Lexend ExtraBold"/>
              <a:cs typeface="Lexend ExtraBold"/>
              <a:sym typeface="Lexend ExtraBold"/>
            </a:endParaRPr>
          </a:p>
          <a:p>
            <a:pPr indent="0" lvl="0" marL="0" rtl="0" algn="ctr">
              <a:spcBef>
                <a:spcPts val="0"/>
              </a:spcBef>
              <a:spcAft>
                <a:spcPts val="0"/>
              </a:spcAft>
              <a:buNone/>
            </a:pPr>
            <a:r>
              <a:rPr lang="en" sz="1500">
                <a:solidFill>
                  <a:schemeClr val="dk1"/>
                </a:solidFill>
                <a:latin typeface="Lexend ExtraBold"/>
                <a:ea typeface="Lexend ExtraBold"/>
                <a:cs typeface="Lexend ExtraBold"/>
                <a:sym typeface="Lexend ExtraBold"/>
              </a:rPr>
              <a:t>READING MADE SIMPLER.</a:t>
            </a:r>
            <a:endParaRPr sz="1500">
              <a:solidFill>
                <a:schemeClr val="dk1"/>
              </a:solidFill>
              <a:latin typeface="Lexend ExtraBold"/>
              <a:ea typeface="Lexend ExtraBold"/>
              <a:cs typeface="Lexend ExtraBold"/>
              <a:sym typeface="Lexend ExtraBold"/>
            </a:endParaRPr>
          </a:p>
        </p:txBody>
      </p:sp>
      <p:cxnSp>
        <p:nvCxnSpPr>
          <p:cNvPr id="129" name="Google Shape;129;p16"/>
          <p:cNvCxnSpPr/>
          <p:nvPr/>
        </p:nvCxnSpPr>
        <p:spPr>
          <a:xfrm>
            <a:off x="2044280" y="3912450"/>
            <a:ext cx="920400" cy="0"/>
          </a:xfrm>
          <a:prstGeom prst="straightConnector1">
            <a:avLst/>
          </a:prstGeom>
          <a:noFill/>
          <a:ln cap="flat" cmpd="sng" w="38100">
            <a:solidFill>
              <a:srgbClr val="BD935B"/>
            </a:solidFill>
            <a:prstDash val="solid"/>
            <a:round/>
            <a:headEnd len="med" w="med" type="none"/>
            <a:tailEnd len="med" w="med" type="none"/>
          </a:ln>
        </p:spPr>
      </p:cxnSp>
      <p:pic>
        <p:nvPicPr>
          <p:cNvPr descr="quote icon. Filled quote icon for website design and mobile, app development. quote icon from filled text editor collection isolated on black background. (Provided by Getty Images)" id="130" name="Google Shape;130;p16"/>
          <p:cNvPicPr preferRelativeResize="0"/>
          <p:nvPr/>
        </p:nvPicPr>
        <p:blipFill>
          <a:blip r:embed="rId8">
            <a:alphaModFix/>
          </a:blip>
          <a:stretch>
            <a:fillRect/>
          </a:stretch>
        </p:blipFill>
        <p:spPr>
          <a:xfrm>
            <a:off x="6660125" y="4582155"/>
            <a:ext cx="496500" cy="496500"/>
          </a:xfrm>
          <a:prstGeom prst="roundRect">
            <a:avLst>
              <a:gd fmla="val 16667" name="adj"/>
            </a:avLst>
          </a:prstGeom>
          <a:noFill/>
          <a:ln cap="flat" cmpd="sng" w="6550">
            <a:solidFill>
              <a:srgbClr val="B19172"/>
            </a:solidFill>
            <a:prstDash val="solid"/>
            <a:round/>
            <a:headEnd len="sm" w="sm" type="none"/>
            <a:tailEnd len="sm" w="sm" type="none"/>
          </a:ln>
        </p:spPr>
      </p:pic>
      <p:sp>
        <p:nvSpPr>
          <p:cNvPr id="131" name="Google Shape;131;p16"/>
          <p:cNvSpPr txBox="1"/>
          <p:nvPr/>
        </p:nvSpPr>
        <p:spPr>
          <a:xfrm>
            <a:off x="7449921" y="2905616"/>
            <a:ext cx="1481100" cy="286500"/>
          </a:xfrm>
          <a:prstGeom prst="rect">
            <a:avLst/>
          </a:prstGeom>
          <a:noFill/>
          <a:ln>
            <a:noFill/>
          </a:ln>
        </p:spPr>
        <p:txBody>
          <a:bodyPr anchorCtr="0" anchor="t" bIns="63025" lIns="63025" spcFirstLastPara="1" rIns="63025" wrap="square" tIns="63025">
            <a:spAutoFit/>
          </a:bodyPr>
          <a:lstStyle/>
          <a:p>
            <a:pPr indent="0" lvl="0" marL="0" rtl="0" algn="l">
              <a:spcBef>
                <a:spcPts val="0"/>
              </a:spcBef>
              <a:spcAft>
                <a:spcPts val="0"/>
              </a:spcAft>
              <a:buNone/>
            </a:pPr>
            <a:r>
              <a:rPr lang="en" sz="1034">
                <a:solidFill>
                  <a:srgbClr val="5F4F41"/>
                </a:solidFill>
                <a:latin typeface="Lexend Medium"/>
                <a:ea typeface="Lexend Medium"/>
                <a:cs typeface="Lexend Medium"/>
                <a:sym typeface="Lexend Medium"/>
              </a:rPr>
              <a:t>Java Jeff</a:t>
            </a:r>
            <a:endParaRPr sz="1034">
              <a:solidFill>
                <a:srgbClr val="5F4F41"/>
              </a:solidFill>
              <a:latin typeface="Lexend Medium"/>
              <a:ea typeface="Lexend Medium"/>
              <a:cs typeface="Lexend Medium"/>
              <a:sym typeface="Lexend Medium"/>
            </a:endParaRPr>
          </a:p>
        </p:txBody>
      </p:sp>
      <p:sp>
        <p:nvSpPr>
          <p:cNvPr id="132" name="Google Shape;132;p16"/>
          <p:cNvSpPr txBox="1"/>
          <p:nvPr/>
        </p:nvSpPr>
        <p:spPr>
          <a:xfrm>
            <a:off x="7428269" y="3113428"/>
            <a:ext cx="1385400" cy="258600"/>
          </a:xfrm>
          <a:prstGeom prst="rect">
            <a:avLst/>
          </a:prstGeom>
          <a:noFill/>
          <a:ln>
            <a:noFill/>
          </a:ln>
        </p:spPr>
        <p:txBody>
          <a:bodyPr anchorCtr="0" anchor="t" bIns="63025" lIns="63025" spcFirstLastPara="1" rIns="63025" wrap="square" tIns="63025">
            <a:spAutoFit/>
          </a:bodyPr>
          <a:lstStyle/>
          <a:p>
            <a:pPr indent="0" lvl="0" marL="0" rtl="0" algn="l">
              <a:spcBef>
                <a:spcPts val="0"/>
              </a:spcBef>
              <a:spcAft>
                <a:spcPts val="0"/>
              </a:spcAft>
              <a:buNone/>
            </a:pPr>
            <a:r>
              <a:rPr b="1" lang="en" sz="853">
                <a:solidFill>
                  <a:srgbClr val="F6F1E9"/>
                </a:solidFill>
                <a:latin typeface="Nunito"/>
                <a:ea typeface="Nunito"/>
                <a:cs typeface="Nunito"/>
                <a:sym typeface="Nunito"/>
              </a:rPr>
              <a:t>STEERED. User</a:t>
            </a:r>
            <a:endParaRPr b="1" sz="853">
              <a:solidFill>
                <a:srgbClr val="F6F1E9"/>
              </a:solidFill>
              <a:latin typeface="Nunito"/>
              <a:ea typeface="Nunito"/>
              <a:cs typeface="Nunito"/>
              <a:sym typeface="Nunito"/>
            </a:endParaRPr>
          </a:p>
        </p:txBody>
      </p:sp>
      <p:pic>
        <p:nvPicPr>
          <p:cNvPr id="133" name="Google Shape;133;p16"/>
          <p:cNvPicPr preferRelativeResize="0"/>
          <p:nvPr/>
        </p:nvPicPr>
        <p:blipFill>
          <a:blip r:embed="rId9">
            <a:alphaModFix/>
          </a:blip>
          <a:stretch>
            <a:fillRect/>
          </a:stretch>
        </p:blipFill>
        <p:spPr>
          <a:xfrm>
            <a:off x="282255" y="484925"/>
            <a:ext cx="4338900" cy="2707200"/>
          </a:xfrm>
          <a:prstGeom prst="roundRect">
            <a:avLst>
              <a:gd fmla="val 6927" name="adj"/>
            </a:avLst>
          </a:prstGeom>
          <a:noFill/>
          <a:ln cap="flat" cmpd="sng" w="76200">
            <a:solidFill>
              <a:srgbClr val="606B18"/>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p17"/>
          <p:cNvSpPr/>
          <p:nvPr/>
        </p:nvSpPr>
        <p:spPr>
          <a:xfrm>
            <a:off x="5353725" y="0"/>
            <a:ext cx="3790200" cy="5143500"/>
          </a:xfrm>
          <a:prstGeom prst="rect">
            <a:avLst/>
          </a:prstGeom>
          <a:solidFill>
            <a:srgbClr val="F4E4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9" name="Google Shape;139;p17"/>
          <p:cNvPicPr preferRelativeResize="0"/>
          <p:nvPr/>
        </p:nvPicPr>
        <p:blipFill rotWithShape="1">
          <a:blip r:embed="rId4">
            <a:alphaModFix/>
          </a:blip>
          <a:srcRect b="43946" l="0" r="0" t="0"/>
          <a:stretch/>
        </p:blipFill>
        <p:spPr>
          <a:xfrm flipH="1" rot="-4223283">
            <a:off x="2483712" y="1171722"/>
            <a:ext cx="3428175" cy="3920156"/>
          </a:xfrm>
          <a:prstGeom prst="rect">
            <a:avLst/>
          </a:prstGeom>
          <a:noFill/>
          <a:ln>
            <a:noFill/>
          </a:ln>
          <a:effectLst>
            <a:outerShdw blurRad="400050" rotWithShape="0" algn="bl" dir="18240000" dist="123825">
              <a:srgbClr val="000000">
                <a:alpha val="48000"/>
              </a:srgbClr>
            </a:outerShdw>
          </a:effectLst>
        </p:spPr>
      </p:pic>
      <p:sp>
        <p:nvSpPr>
          <p:cNvPr id="140" name="Google Shape;140;p17"/>
          <p:cNvSpPr txBox="1"/>
          <p:nvPr/>
        </p:nvSpPr>
        <p:spPr>
          <a:xfrm>
            <a:off x="5553350" y="219275"/>
            <a:ext cx="2729100" cy="50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606B18"/>
                </a:solidFill>
                <a:latin typeface="Lexend"/>
                <a:ea typeface="Lexend"/>
                <a:cs typeface="Lexend"/>
                <a:sym typeface="Lexend"/>
              </a:rPr>
              <a:t>Filter by genre!</a:t>
            </a:r>
            <a:endParaRPr b="1" sz="2400">
              <a:solidFill>
                <a:srgbClr val="606B18"/>
              </a:solidFill>
              <a:latin typeface="Lexend"/>
              <a:ea typeface="Lexend"/>
              <a:cs typeface="Lexend"/>
              <a:sym typeface="Lexend"/>
            </a:endParaRPr>
          </a:p>
        </p:txBody>
      </p:sp>
      <p:sp>
        <p:nvSpPr>
          <p:cNvPr id="141" name="Google Shape;141;p17"/>
          <p:cNvSpPr/>
          <p:nvPr/>
        </p:nvSpPr>
        <p:spPr>
          <a:xfrm>
            <a:off x="254250" y="1724600"/>
            <a:ext cx="2490300" cy="2589600"/>
          </a:xfrm>
          <a:prstGeom prst="round2DiagRect">
            <a:avLst>
              <a:gd fmla="val 50000" name="adj1"/>
              <a:gd fmla="val 45356" name="adj2"/>
            </a:avLst>
          </a:prstGeom>
          <a:solidFill>
            <a:srgbClr val="FCF5EA"/>
          </a:solidFill>
          <a:ln cap="flat" cmpd="sng" w="9525">
            <a:solidFill>
              <a:srgbClr val="FCF5E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17"/>
          <p:cNvSpPr txBox="1"/>
          <p:nvPr/>
        </p:nvSpPr>
        <p:spPr>
          <a:xfrm>
            <a:off x="268950" y="2671200"/>
            <a:ext cx="2460900" cy="103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600">
                <a:solidFill>
                  <a:srgbClr val="606B18"/>
                </a:solidFill>
                <a:latin typeface="Lexend"/>
                <a:ea typeface="Lexend"/>
                <a:cs typeface="Lexend"/>
                <a:sym typeface="Lexend"/>
              </a:rPr>
              <a:t>Find </a:t>
            </a:r>
            <a:r>
              <a:rPr b="1" lang="en" sz="1600">
                <a:solidFill>
                  <a:srgbClr val="D4AA5D"/>
                </a:solidFill>
                <a:latin typeface="Lexend"/>
                <a:ea typeface="Lexend"/>
                <a:cs typeface="Lexend"/>
                <a:sym typeface="Lexend"/>
              </a:rPr>
              <a:t>exactly </a:t>
            </a:r>
            <a:r>
              <a:rPr lang="en" sz="1600">
                <a:solidFill>
                  <a:srgbClr val="606B18"/>
                </a:solidFill>
                <a:latin typeface="Lexend"/>
                <a:ea typeface="Lexend"/>
                <a:cs typeface="Lexend"/>
                <a:sym typeface="Lexend"/>
              </a:rPr>
              <a:t>what you’re looking for.</a:t>
            </a:r>
            <a:endParaRPr sz="1600">
              <a:solidFill>
                <a:srgbClr val="606B18"/>
              </a:solidFill>
              <a:latin typeface="Lexend"/>
              <a:ea typeface="Lexend"/>
              <a:cs typeface="Lexend"/>
              <a:sym typeface="Lexend"/>
            </a:endParaRPr>
          </a:p>
        </p:txBody>
      </p:sp>
      <p:pic>
        <p:nvPicPr>
          <p:cNvPr descr="filter icon. Filled filter icon for website design and mobile, app development. filter icon from filled basic ui collection isolated on black background. (Provided by Getty Images)" id="143" name="Google Shape;143;p17"/>
          <p:cNvPicPr preferRelativeResize="0"/>
          <p:nvPr/>
        </p:nvPicPr>
        <p:blipFill>
          <a:blip r:embed="rId5">
            <a:alphaModFix/>
          </a:blip>
          <a:stretch>
            <a:fillRect/>
          </a:stretch>
        </p:blipFill>
        <p:spPr>
          <a:xfrm>
            <a:off x="336025" y="1438374"/>
            <a:ext cx="745200" cy="745200"/>
          </a:xfrm>
          <a:prstGeom prst="ellipse">
            <a:avLst/>
          </a:prstGeom>
          <a:noFill/>
          <a:ln cap="flat" cmpd="sng" w="60675">
            <a:solidFill>
              <a:srgbClr val="FCF5EA"/>
            </a:solidFill>
            <a:prstDash val="solid"/>
            <a:round/>
            <a:headEnd len="sm" w="sm" type="none"/>
            <a:tailEnd len="sm" w="sm" type="none"/>
          </a:ln>
        </p:spPr>
      </p:pic>
      <p:sp>
        <p:nvSpPr>
          <p:cNvPr id="144" name="Google Shape;144;p17"/>
          <p:cNvSpPr/>
          <p:nvPr/>
        </p:nvSpPr>
        <p:spPr>
          <a:xfrm>
            <a:off x="4077375" y="1031875"/>
            <a:ext cx="3790200" cy="3753300"/>
          </a:xfrm>
          <a:prstGeom prst="rect">
            <a:avLst/>
          </a:prstGeom>
          <a:solidFill>
            <a:srgbClr val="F4E4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7"/>
          <p:cNvSpPr/>
          <p:nvPr/>
        </p:nvSpPr>
        <p:spPr>
          <a:xfrm>
            <a:off x="4241125" y="800175"/>
            <a:ext cx="3790200" cy="3264600"/>
          </a:xfrm>
          <a:prstGeom prst="rect">
            <a:avLst/>
          </a:prstGeom>
          <a:solidFill>
            <a:srgbClr val="F4E4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6" name="Google Shape;146;p17"/>
          <p:cNvPicPr preferRelativeResize="0"/>
          <p:nvPr/>
        </p:nvPicPr>
        <p:blipFill rotWithShape="1">
          <a:blip r:embed="rId6">
            <a:alphaModFix/>
          </a:blip>
          <a:srcRect b="0" l="1922" r="1970" t="1546"/>
          <a:stretch/>
        </p:blipFill>
        <p:spPr>
          <a:xfrm>
            <a:off x="4132350" y="855425"/>
            <a:ext cx="4856400" cy="4065600"/>
          </a:xfrm>
          <a:prstGeom prst="roundRect">
            <a:avLst>
              <a:gd fmla="val 6973" name="adj"/>
            </a:avLst>
          </a:prstGeom>
          <a:noFill/>
          <a:ln cap="flat" cmpd="sng" w="76200">
            <a:solidFill>
              <a:srgbClr val="F4E4C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0" name="Shape 150"/>
        <p:cNvGrpSpPr/>
        <p:nvPr/>
      </p:nvGrpSpPr>
      <p:grpSpPr>
        <a:xfrm>
          <a:off x="0" y="0"/>
          <a:ext cx="0" cy="0"/>
          <a:chOff x="0" y="0"/>
          <a:chExt cx="0" cy="0"/>
        </a:xfrm>
      </p:grpSpPr>
      <p:sp>
        <p:nvSpPr>
          <p:cNvPr id="151" name="Google Shape;151;p18"/>
          <p:cNvSpPr/>
          <p:nvPr/>
        </p:nvSpPr>
        <p:spPr>
          <a:xfrm>
            <a:off x="0" y="0"/>
            <a:ext cx="3790200" cy="5143500"/>
          </a:xfrm>
          <a:prstGeom prst="rect">
            <a:avLst/>
          </a:prstGeom>
          <a:solidFill>
            <a:srgbClr val="D4AA5D"/>
          </a:solidFill>
          <a:ln cap="flat" cmpd="sng" w="9525">
            <a:solidFill>
              <a:srgbClr val="D4AA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18"/>
          <p:cNvSpPr txBox="1"/>
          <p:nvPr/>
        </p:nvSpPr>
        <p:spPr>
          <a:xfrm>
            <a:off x="72700" y="405275"/>
            <a:ext cx="4188300" cy="51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rgbClr val="FCF5EA"/>
                </a:solidFill>
                <a:latin typeface="Lexend"/>
                <a:ea typeface="Lexend"/>
                <a:cs typeface="Lexend"/>
                <a:sym typeface="Lexend"/>
              </a:rPr>
              <a:t>See what’s recommended!</a:t>
            </a:r>
            <a:endParaRPr b="1" sz="1900">
              <a:solidFill>
                <a:srgbClr val="FCF5EA"/>
              </a:solidFill>
              <a:latin typeface="Lexend"/>
              <a:ea typeface="Lexend"/>
              <a:cs typeface="Lexend"/>
              <a:sym typeface="Lexend"/>
            </a:endParaRPr>
          </a:p>
        </p:txBody>
      </p:sp>
      <p:sp>
        <p:nvSpPr>
          <p:cNvPr id="153" name="Google Shape;153;p18"/>
          <p:cNvSpPr/>
          <p:nvPr/>
        </p:nvSpPr>
        <p:spPr>
          <a:xfrm>
            <a:off x="5623950" y="2992500"/>
            <a:ext cx="3520050" cy="2151000"/>
          </a:xfrm>
          <a:prstGeom prst="flowChartManualInput">
            <a:avLst/>
          </a:prstGeom>
          <a:solidFill>
            <a:srgbClr val="FCF5EA"/>
          </a:solidFill>
          <a:ln cap="flat" cmpd="sng" w="9525">
            <a:solidFill>
              <a:srgbClr val="FCF5E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8"/>
          <p:cNvSpPr txBox="1"/>
          <p:nvPr/>
        </p:nvSpPr>
        <p:spPr>
          <a:xfrm>
            <a:off x="5905325" y="3756300"/>
            <a:ext cx="3191400" cy="1087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2000">
                <a:solidFill>
                  <a:srgbClr val="606B18"/>
                </a:solidFill>
                <a:latin typeface="Lexend"/>
                <a:ea typeface="Lexend"/>
                <a:cs typeface="Lexend"/>
                <a:sym typeface="Lexend"/>
              </a:rPr>
              <a:t>Discover </a:t>
            </a:r>
            <a:r>
              <a:rPr b="1" lang="en" sz="2000">
                <a:solidFill>
                  <a:srgbClr val="D4AA5D"/>
                </a:solidFill>
                <a:latin typeface="Lexend"/>
                <a:ea typeface="Lexend"/>
                <a:cs typeface="Lexend"/>
                <a:sym typeface="Lexend"/>
              </a:rPr>
              <a:t>new</a:t>
            </a:r>
            <a:r>
              <a:rPr lang="en" sz="2000">
                <a:solidFill>
                  <a:srgbClr val="606B18"/>
                </a:solidFill>
                <a:latin typeface="Lexend"/>
                <a:ea typeface="Lexend"/>
                <a:cs typeface="Lexend"/>
                <a:sym typeface="Lexend"/>
              </a:rPr>
              <a:t> authors and </a:t>
            </a:r>
            <a:r>
              <a:rPr b="1" lang="en" sz="2000">
                <a:solidFill>
                  <a:srgbClr val="D4AA5D"/>
                </a:solidFill>
                <a:latin typeface="Lexend"/>
                <a:ea typeface="Lexend"/>
                <a:cs typeface="Lexend"/>
                <a:sym typeface="Lexend"/>
              </a:rPr>
              <a:t>trending</a:t>
            </a:r>
            <a:r>
              <a:rPr lang="en" sz="2000">
                <a:solidFill>
                  <a:srgbClr val="606B18"/>
                </a:solidFill>
                <a:latin typeface="Lexend"/>
                <a:ea typeface="Lexend"/>
                <a:cs typeface="Lexend"/>
                <a:sym typeface="Lexend"/>
              </a:rPr>
              <a:t> reads based on your interests.</a:t>
            </a:r>
            <a:endParaRPr sz="2000">
              <a:solidFill>
                <a:srgbClr val="606B18"/>
              </a:solidFill>
              <a:latin typeface="Lexend"/>
              <a:ea typeface="Lexend"/>
              <a:cs typeface="Lexend"/>
              <a:sym typeface="Lexend"/>
            </a:endParaRPr>
          </a:p>
        </p:txBody>
      </p:sp>
      <p:pic>
        <p:nvPicPr>
          <p:cNvPr id="155" name="Google Shape;155;p18"/>
          <p:cNvPicPr preferRelativeResize="0"/>
          <p:nvPr/>
        </p:nvPicPr>
        <p:blipFill rotWithShape="1">
          <a:blip r:embed="rId4">
            <a:alphaModFix/>
          </a:blip>
          <a:srcRect b="43946" l="0" r="0" t="0"/>
          <a:stretch/>
        </p:blipFill>
        <p:spPr>
          <a:xfrm flipH="1" rot="-10330273">
            <a:off x="5831583" y="-790282"/>
            <a:ext cx="3428176" cy="3920162"/>
          </a:xfrm>
          <a:prstGeom prst="rect">
            <a:avLst/>
          </a:prstGeom>
          <a:noFill/>
          <a:ln>
            <a:noFill/>
          </a:ln>
          <a:effectLst>
            <a:outerShdw blurRad="400050" rotWithShape="0" algn="bl" dir="18240000" dist="123825">
              <a:srgbClr val="000000">
                <a:alpha val="48000"/>
              </a:srgbClr>
            </a:outerShdw>
          </a:effectLst>
        </p:spPr>
      </p:pic>
      <p:pic>
        <p:nvPicPr>
          <p:cNvPr id="156" name="Google Shape;156;p18"/>
          <p:cNvPicPr preferRelativeResize="0"/>
          <p:nvPr/>
        </p:nvPicPr>
        <p:blipFill rotWithShape="1">
          <a:blip r:embed="rId5">
            <a:alphaModFix/>
          </a:blip>
          <a:srcRect b="21316" l="0" r="32692" t="0"/>
          <a:stretch/>
        </p:blipFill>
        <p:spPr>
          <a:xfrm>
            <a:off x="103500" y="839300"/>
            <a:ext cx="4119000" cy="3931200"/>
          </a:xfrm>
          <a:prstGeom prst="roundRect">
            <a:avLst>
              <a:gd fmla="val 5804" name="adj"/>
            </a:avLst>
          </a:prstGeom>
          <a:noFill/>
          <a:ln cap="flat" cmpd="sng" w="76200">
            <a:solidFill>
              <a:srgbClr val="D4AA5D"/>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0" name="Shape 160"/>
        <p:cNvGrpSpPr/>
        <p:nvPr/>
      </p:nvGrpSpPr>
      <p:grpSpPr>
        <a:xfrm>
          <a:off x="0" y="0"/>
          <a:ext cx="0" cy="0"/>
          <a:chOff x="0" y="0"/>
          <a:chExt cx="0" cy="0"/>
        </a:xfrm>
      </p:grpSpPr>
      <p:sp>
        <p:nvSpPr>
          <p:cNvPr id="161" name="Google Shape;161;p19"/>
          <p:cNvSpPr/>
          <p:nvPr/>
        </p:nvSpPr>
        <p:spPr>
          <a:xfrm>
            <a:off x="3872175" y="598025"/>
            <a:ext cx="2164200" cy="2053500"/>
          </a:xfrm>
          <a:prstGeom prst="flowChartDelay">
            <a:avLst/>
          </a:prstGeom>
          <a:solidFill>
            <a:srgbClr val="D4AA5D"/>
          </a:solidFill>
          <a:ln cap="flat" cmpd="sng" w="9525">
            <a:solidFill>
              <a:srgbClr val="D4AA5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D4AA5D"/>
              </a:solidFill>
            </a:endParaRPr>
          </a:p>
        </p:txBody>
      </p:sp>
      <p:sp>
        <p:nvSpPr>
          <p:cNvPr id="162" name="Google Shape;162;p19"/>
          <p:cNvSpPr/>
          <p:nvPr/>
        </p:nvSpPr>
        <p:spPr>
          <a:xfrm>
            <a:off x="0" y="598025"/>
            <a:ext cx="3955200" cy="4545600"/>
          </a:xfrm>
          <a:prstGeom prst="round2SameRect">
            <a:avLst>
              <a:gd fmla="val 16667" name="adj1"/>
              <a:gd fmla="val 0" name="adj2"/>
            </a:avLst>
          </a:prstGeom>
          <a:solidFill>
            <a:srgbClr val="F4E4C1"/>
          </a:solidFill>
          <a:ln cap="flat" cmpd="sng" w="9525">
            <a:solidFill>
              <a:srgbClr val="F4E4C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19"/>
          <p:cNvSpPr txBox="1"/>
          <p:nvPr/>
        </p:nvSpPr>
        <p:spPr>
          <a:xfrm>
            <a:off x="373525" y="1318125"/>
            <a:ext cx="3444600" cy="51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D4AA5D"/>
                </a:solidFill>
                <a:latin typeface="Lexend"/>
                <a:ea typeface="Lexend"/>
                <a:cs typeface="Lexend"/>
                <a:sym typeface="Lexend"/>
              </a:rPr>
              <a:t>Save your finds!</a:t>
            </a:r>
            <a:endParaRPr b="1" sz="2200">
              <a:solidFill>
                <a:srgbClr val="D4AA5D"/>
              </a:solidFill>
              <a:latin typeface="Lexend"/>
              <a:ea typeface="Lexend"/>
              <a:cs typeface="Lexend"/>
              <a:sym typeface="Lexend"/>
            </a:endParaRPr>
          </a:p>
        </p:txBody>
      </p:sp>
      <p:sp>
        <p:nvSpPr>
          <p:cNvPr id="164" name="Google Shape;164;p19"/>
          <p:cNvSpPr txBox="1"/>
          <p:nvPr/>
        </p:nvSpPr>
        <p:spPr>
          <a:xfrm>
            <a:off x="4015304" y="770675"/>
            <a:ext cx="1625700" cy="1087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600">
                <a:solidFill>
                  <a:srgbClr val="F4E4C1"/>
                </a:solidFill>
                <a:latin typeface="Lexend"/>
                <a:ea typeface="Lexend"/>
                <a:cs typeface="Lexend"/>
                <a:sym typeface="Lexend"/>
              </a:rPr>
              <a:t>Save your finds for </a:t>
            </a:r>
            <a:r>
              <a:rPr b="1" lang="en" sz="1600">
                <a:solidFill>
                  <a:srgbClr val="5F4F41"/>
                </a:solidFill>
                <a:latin typeface="Lexend"/>
                <a:ea typeface="Lexend"/>
                <a:cs typeface="Lexend"/>
                <a:sym typeface="Lexend"/>
              </a:rPr>
              <a:t>easy access</a:t>
            </a:r>
            <a:r>
              <a:rPr lang="en" sz="1600">
                <a:solidFill>
                  <a:srgbClr val="F4E4C1"/>
                </a:solidFill>
                <a:latin typeface="Lexend"/>
                <a:ea typeface="Lexend"/>
                <a:cs typeface="Lexend"/>
                <a:sym typeface="Lexend"/>
              </a:rPr>
              <a:t> when you’re ready for your </a:t>
            </a:r>
            <a:r>
              <a:rPr b="1" lang="en" sz="1600">
                <a:solidFill>
                  <a:srgbClr val="5F4F41"/>
                </a:solidFill>
                <a:latin typeface="Lexend"/>
                <a:ea typeface="Lexend"/>
                <a:cs typeface="Lexend"/>
                <a:sym typeface="Lexend"/>
              </a:rPr>
              <a:t>next book</a:t>
            </a:r>
            <a:r>
              <a:rPr lang="en" sz="1600">
                <a:solidFill>
                  <a:srgbClr val="F4E4C1"/>
                </a:solidFill>
                <a:latin typeface="Lexend"/>
                <a:ea typeface="Lexend"/>
                <a:cs typeface="Lexend"/>
                <a:sym typeface="Lexend"/>
              </a:rPr>
              <a:t>.</a:t>
            </a:r>
            <a:endParaRPr sz="1600">
              <a:solidFill>
                <a:srgbClr val="F4E4C1"/>
              </a:solidFill>
              <a:latin typeface="Lexend"/>
              <a:ea typeface="Lexend"/>
              <a:cs typeface="Lexend"/>
              <a:sym typeface="Lexend"/>
            </a:endParaRPr>
          </a:p>
        </p:txBody>
      </p:sp>
      <p:pic>
        <p:nvPicPr>
          <p:cNvPr descr="bookmark icon. Filled bookmark icon for website design and mobile, app development. bookmark icon from filled essential compilation collection isolated on black background. (Provided by Getty Images)" id="165" name="Google Shape;165;p19"/>
          <p:cNvPicPr preferRelativeResize="0"/>
          <p:nvPr/>
        </p:nvPicPr>
        <p:blipFill>
          <a:blip r:embed="rId4">
            <a:alphaModFix/>
          </a:blip>
          <a:stretch>
            <a:fillRect/>
          </a:stretch>
        </p:blipFill>
        <p:spPr>
          <a:xfrm>
            <a:off x="3193000" y="459100"/>
            <a:ext cx="956400" cy="956400"/>
          </a:xfrm>
          <a:prstGeom prst="ellipse">
            <a:avLst/>
          </a:prstGeom>
          <a:noFill/>
          <a:ln cap="flat" cmpd="sng" w="57075">
            <a:solidFill>
              <a:srgbClr val="F4E4C1"/>
            </a:solidFill>
            <a:prstDash val="solid"/>
            <a:round/>
            <a:headEnd len="sm" w="sm" type="none"/>
            <a:tailEnd len="sm" w="sm" type="none"/>
          </a:ln>
        </p:spPr>
      </p:pic>
      <p:pic>
        <p:nvPicPr>
          <p:cNvPr id="166" name="Google Shape;166;p19"/>
          <p:cNvPicPr preferRelativeResize="0"/>
          <p:nvPr/>
        </p:nvPicPr>
        <p:blipFill rotWithShape="1">
          <a:blip r:embed="rId5">
            <a:alphaModFix/>
          </a:blip>
          <a:srcRect b="0" l="2145" r="1645" t="3800"/>
          <a:stretch/>
        </p:blipFill>
        <p:spPr>
          <a:xfrm>
            <a:off x="232200" y="2337750"/>
            <a:ext cx="4129500" cy="2652300"/>
          </a:xfrm>
          <a:prstGeom prst="roundRect">
            <a:avLst>
              <a:gd fmla="val 6098" name="adj"/>
            </a:avLst>
          </a:prstGeom>
          <a:noFill/>
          <a:ln cap="flat" cmpd="sng" w="76200">
            <a:solidFill>
              <a:srgbClr val="F4E4C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 name="Shape 170"/>
        <p:cNvGrpSpPr/>
        <p:nvPr/>
      </p:nvGrpSpPr>
      <p:grpSpPr>
        <a:xfrm>
          <a:off x="0" y="0"/>
          <a:ext cx="0" cy="0"/>
          <a:chOff x="0" y="0"/>
          <a:chExt cx="0" cy="0"/>
        </a:xfrm>
      </p:grpSpPr>
      <p:pic>
        <p:nvPicPr>
          <p:cNvPr id="171" name="Google Shape;171;p20"/>
          <p:cNvPicPr preferRelativeResize="0"/>
          <p:nvPr/>
        </p:nvPicPr>
        <p:blipFill rotWithShape="1">
          <a:blip r:embed="rId4">
            <a:alphaModFix/>
          </a:blip>
          <a:srcRect b="2296" l="15782" r="0" t="0"/>
          <a:stretch/>
        </p:blipFill>
        <p:spPr>
          <a:xfrm rot="-3095090">
            <a:off x="3633969" y="1905267"/>
            <a:ext cx="2731886" cy="2244970"/>
          </a:xfrm>
          <a:prstGeom prst="rect">
            <a:avLst/>
          </a:prstGeom>
          <a:noFill/>
          <a:ln>
            <a:noFill/>
          </a:ln>
        </p:spPr>
      </p:pic>
      <p:pic>
        <p:nvPicPr>
          <p:cNvPr id="172" name="Google Shape;172;p20"/>
          <p:cNvPicPr preferRelativeResize="0"/>
          <p:nvPr/>
        </p:nvPicPr>
        <p:blipFill rotWithShape="1">
          <a:blip r:embed="rId4">
            <a:alphaModFix/>
          </a:blip>
          <a:srcRect b="2296" l="15782" r="0" t="0"/>
          <a:stretch/>
        </p:blipFill>
        <p:spPr>
          <a:xfrm flipH="1" rot="7337234">
            <a:off x="3923418" y="2864704"/>
            <a:ext cx="2731889" cy="2244968"/>
          </a:xfrm>
          <a:prstGeom prst="rect">
            <a:avLst/>
          </a:prstGeom>
          <a:noFill/>
          <a:ln>
            <a:noFill/>
          </a:ln>
        </p:spPr>
      </p:pic>
      <p:sp>
        <p:nvSpPr>
          <p:cNvPr id="173" name="Google Shape;173;p20"/>
          <p:cNvSpPr txBox="1"/>
          <p:nvPr/>
        </p:nvSpPr>
        <p:spPr>
          <a:xfrm>
            <a:off x="1438975" y="1260025"/>
            <a:ext cx="3228000" cy="554100"/>
          </a:xfrm>
          <a:prstGeom prst="rect">
            <a:avLst/>
          </a:prstGeom>
          <a:solidFill>
            <a:srgbClr val="D4AA5D"/>
          </a:solidFill>
          <a:ln cap="flat" cmpd="sng" w="9525">
            <a:solidFill>
              <a:srgbClr val="D4AA5D"/>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F4E4C1"/>
                </a:solidFill>
                <a:latin typeface="Lexend"/>
                <a:ea typeface="Lexend"/>
                <a:cs typeface="Lexend"/>
                <a:sym typeface="Lexend"/>
              </a:rPr>
              <a:t>Create your profile</a:t>
            </a:r>
            <a:endParaRPr b="1" sz="3100">
              <a:solidFill>
                <a:srgbClr val="F4E4C1"/>
              </a:solidFill>
              <a:latin typeface="Lexend"/>
              <a:ea typeface="Lexend"/>
              <a:cs typeface="Lexend"/>
              <a:sym typeface="Lexend"/>
            </a:endParaRPr>
          </a:p>
        </p:txBody>
      </p:sp>
      <p:sp>
        <p:nvSpPr>
          <p:cNvPr id="174" name="Google Shape;174;p20"/>
          <p:cNvSpPr/>
          <p:nvPr/>
        </p:nvSpPr>
        <p:spPr>
          <a:xfrm>
            <a:off x="6466500" y="2148900"/>
            <a:ext cx="2677500" cy="2994600"/>
          </a:xfrm>
          <a:prstGeom prst="snipRoundRect">
            <a:avLst>
              <a:gd fmla="val 16667" name="adj1"/>
              <a:gd fmla="val 1435" name="adj2"/>
            </a:avLst>
          </a:prstGeom>
          <a:solidFill>
            <a:srgbClr val="5F4F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0"/>
          <p:cNvSpPr txBox="1"/>
          <p:nvPr/>
        </p:nvSpPr>
        <p:spPr>
          <a:xfrm>
            <a:off x="6670175" y="2567750"/>
            <a:ext cx="2301000" cy="1464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600">
                <a:solidFill>
                  <a:srgbClr val="A2A879"/>
                </a:solidFill>
                <a:latin typeface="Lexend"/>
                <a:ea typeface="Lexend"/>
                <a:cs typeface="Lexend"/>
                <a:sym typeface="Lexend"/>
              </a:rPr>
              <a:t>Fast sign up process lets you keep track of everything in the app.</a:t>
            </a:r>
            <a:endParaRPr sz="1600">
              <a:solidFill>
                <a:srgbClr val="A2A879"/>
              </a:solidFill>
              <a:latin typeface="Lexend"/>
              <a:ea typeface="Lexend"/>
              <a:cs typeface="Lexend"/>
              <a:sym typeface="Lexend"/>
            </a:endParaRPr>
          </a:p>
        </p:txBody>
      </p:sp>
      <p:pic>
        <p:nvPicPr>
          <p:cNvPr id="176" name="Google Shape;176;p20"/>
          <p:cNvPicPr preferRelativeResize="0"/>
          <p:nvPr/>
        </p:nvPicPr>
        <p:blipFill>
          <a:blip r:embed="rId5">
            <a:alphaModFix/>
          </a:blip>
          <a:stretch>
            <a:fillRect/>
          </a:stretch>
        </p:blipFill>
        <p:spPr>
          <a:xfrm>
            <a:off x="22679" y="1749721"/>
            <a:ext cx="4608600" cy="3371100"/>
          </a:xfrm>
          <a:prstGeom prst="snipRoundRect">
            <a:avLst>
              <a:gd fmla="val 16667" name="adj1"/>
              <a:gd fmla="val 0" name="adj2"/>
            </a:avLst>
          </a:prstGeom>
          <a:noFill/>
          <a:ln cap="flat" cmpd="sng" w="38100">
            <a:solidFill>
              <a:srgbClr val="D4AA5D"/>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5DB"/>
        </a:solidFill>
      </p:bgPr>
    </p:bg>
    <p:spTree>
      <p:nvGrpSpPr>
        <p:cNvPr id="180" name="Shape 180"/>
        <p:cNvGrpSpPr/>
        <p:nvPr/>
      </p:nvGrpSpPr>
      <p:grpSpPr>
        <a:xfrm>
          <a:off x="0" y="0"/>
          <a:ext cx="0" cy="0"/>
          <a:chOff x="0" y="0"/>
          <a:chExt cx="0" cy="0"/>
        </a:xfrm>
      </p:grpSpPr>
      <p:pic>
        <p:nvPicPr>
          <p:cNvPr id="181" name="Google Shape;181;p21"/>
          <p:cNvPicPr preferRelativeResize="0"/>
          <p:nvPr/>
        </p:nvPicPr>
        <p:blipFill rotWithShape="1">
          <a:blip r:embed="rId3">
            <a:alphaModFix/>
          </a:blip>
          <a:srcRect b="2296" l="15782" r="0" t="0"/>
          <a:stretch/>
        </p:blipFill>
        <p:spPr>
          <a:xfrm rot="-9059450">
            <a:off x="5595894" y="3274334"/>
            <a:ext cx="2516314" cy="2067831"/>
          </a:xfrm>
          <a:prstGeom prst="rect">
            <a:avLst/>
          </a:prstGeom>
          <a:noFill/>
          <a:ln>
            <a:noFill/>
          </a:ln>
        </p:spPr>
      </p:pic>
      <p:pic>
        <p:nvPicPr>
          <p:cNvPr id="182" name="Google Shape;182;p21"/>
          <p:cNvPicPr preferRelativeResize="0"/>
          <p:nvPr/>
        </p:nvPicPr>
        <p:blipFill rotWithShape="1">
          <a:blip r:embed="rId3">
            <a:alphaModFix/>
          </a:blip>
          <a:srcRect b="2296" l="15782" r="0" t="0"/>
          <a:stretch/>
        </p:blipFill>
        <p:spPr>
          <a:xfrm flipH="1" rot="1478379">
            <a:off x="6356534" y="2840002"/>
            <a:ext cx="2556604" cy="2100923"/>
          </a:xfrm>
          <a:prstGeom prst="rect">
            <a:avLst/>
          </a:prstGeom>
          <a:noFill/>
          <a:ln>
            <a:noFill/>
          </a:ln>
        </p:spPr>
      </p:pic>
      <p:sp>
        <p:nvSpPr>
          <p:cNvPr id="183" name="Google Shape;183;p21"/>
          <p:cNvSpPr txBox="1"/>
          <p:nvPr/>
        </p:nvSpPr>
        <p:spPr>
          <a:xfrm>
            <a:off x="4484050" y="168150"/>
            <a:ext cx="3957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61705A"/>
                </a:solidFill>
                <a:latin typeface="Lexend SemiBold"/>
                <a:ea typeface="Lexend SemiBold"/>
                <a:cs typeface="Lexend SemiBold"/>
                <a:sym typeface="Lexend SemiBold"/>
              </a:rPr>
              <a:t>‘ READING </a:t>
            </a:r>
            <a:r>
              <a:rPr lang="en" sz="2000">
                <a:solidFill>
                  <a:srgbClr val="5F4F41"/>
                </a:solidFill>
                <a:latin typeface="Lexend SemiBold"/>
                <a:ea typeface="Lexend SemiBold"/>
                <a:cs typeface="Lexend SemiBold"/>
                <a:sym typeface="Lexend SemiBold"/>
              </a:rPr>
              <a:t>TOOLKIT</a:t>
            </a:r>
            <a:r>
              <a:rPr lang="en" sz="2000">
                <a:solidFill>
                  <a:srgbClr val="5F4F41"/>
                </a:solidFill>
                <a:latin typeface="Lexend SemiBold"/>
                <a:ea typeface="Lexend SemiBold"/>
                <a:cs typeface="Lexend SemiBold"/>
                <a:sym typeface="Lexend SemiBold"/>
              </a:rPr>
              <a:t> </a:t>
            </a:r>
            <a:r>
              <a:rPr lang="en" sz="2000">
                <a:solidFill>
                  <a:srgbClr val="61705A"/>
                </a:solidFill>
                <a:latin typeface="Lexend SemiBold"/>
                <a:ea typeface="Lexend SemiBold"/>
                <a:cs typeface="Lexend SemiBold"/>
                <a:sym typeface="Lexend SemiBold"/>
              </a:rPr>
              <a:t>API</a:t>
            </a:r>
            <a:r>
              <a:rPr lang="en" sz="2000">
                <a:solidFill>
                  <a:srgbClr val="61705A"/>
                </a:solidFill>
                <a:latin typeface="Lexend SemiBold"/>
                <a:ea typeface="Lexend SemiBold"/>
                <a:cs typeface="Lexend SemiBold"/>
                <a:sym typeface="Lexend SemiBold"/>
              </a:rPr>
              <a:t> ’</a:t>
            </a:r>
            <a:endParaRPr sz="2000">
              <a:solidFill>
                <a:srgbClr val="61705A"/>
              </a:solidFill>
              <a:latin typeface="Lexend SemiBold"/>
              <a:ea typeface="Lexend SemiBold"/>
              <a:cs typeface="Lexend SemiBold"/>
              <a:sym typeface="Lexend SemiBold"/>
            </a:endParaRPr>
          </a:p>
        </p:txBody>
      </p:sp>
      <p:sp>
        <p:nvSpPr>
          <p:cNvPr id="184" name="Google Shape;184;p21"/>
          <p:cNvSpPr/>
          <p:nvPr/>
        </p:nvSpPr>
        <p:spPr>
          <a:xfrm>
            <a:off x="7449900" y="3226925"/>
            <a:ext cx="1694100" cy="1916700"/>
          </a:xfrm>
          <a:prstGeom prst="round2SameRect">
            <a:avLst>
              <a:gd fmla="val 43494" name="adj1"/>
              <a:gd fmla="val 0" name="adj2"/>
            </a:avLst>
          </a:prstGeom>
          <a:solidFill>
            <a:srgbClr val="606B18"/>
          </a:solidFill>
          <a:ln cap="flat" cmpd="sng" w="9525">
            <a:solidFill>
              <a:srgbClr val="606B1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85" name="Google Shape;185;p21"/>
          <p:cNvGrpSpPr/>
          <p:nvPr/>
        </p:nvGrpSpPr>
        <p:grpSpPr>
          <a:xfrm rot="-5400000">
            <a:off x="3643850" y="710750"/>
            <a:ext cx="1422050" cy="196200"/>
            <a:chOff x="4895850" y="3948300"/>
            <a:chExt cx="1422050" cy="196200"/>
          </a:xfrm>
        </p:grpSpPr>
        <p:cxnSp>
          <p:nvCxnSpPr>
            <p:cNvPr id="186" name="Google Shape;186;p21"/>
            <p:cNvCxnSpPr/>
            <p:nvPr/>
          </p:nvCxnSpPr>
          <p:spPr>
            <a:xfrm>
              <a:off x="4895850" y="4020000"/>
              <a:ext cx="1312500" cy="21300"/>
            </a:xfrm>
            <a:prstGeom prst="straightConnector1">
              <a:avLst/>
            </a:prstGeom>
            <a:noFill/>
            <a:ln cap="flat" cmpd="sng" w="28575">
              <a:solidFill>
                <a:srgbClr val="CCAB8E"/>
              </a:solidFill>
              <a:prstDash val="solid"/>
              <a:round/>
              <a:headEnd len="med" w="med" type="none"/>
              <a:tailEnd len="med" w="med" type="none"/>
            </a:ln>
          </p:spPr>
        </p:cxnSp>
        <p:sp>
          <p:nvSpPr>
            <p:cNvPr id="187" name="Google Shape;187;p21"/>
            <p:cNvSpPr/>
            <p:nvPr/>
          </p:nvSpPr>
          <p:spPr>
            <a:xfrm>
              <a:off x="6121700" y="3948300"/>
              <a:ext cx="196200" cy="196200"/>
            </a:xfrm>
            <a:prstGeom prst="ellipse">
              <a:avLst/>
            </a:prstGeom>
            <a:solidFill>
              <a:srgbClr val="CCAB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3DDD9"/>
                </a:solidFill>
              </a:endParaRPr>
            </a:p>
          </p:txBody>
        </p:sp>
      </p:grpSp>
      <p:pic>
        <p:nvPicPr>
          <p:cNvPr descr="quote icon. Filled quote icon for website design and mobile, app development. quote icon from filled text editor collection isolated on black background. (Provided by Getty Images)" id="188" name="Google Shape;188;p21"/>
          <p:cNvPicPr preferRelativeResize="0"/>
          <p:nvPr/>
        </p:nvPicPr>
        <p:blipFill>
          <a:blip r:embed="rId4">
            <a:alphaModFix/>
          </a:blip>
          <a:stretch>
            <a:fillRect/>
          </a:stretch>
        </p:blipFill>
        <p:spPr>
          <a:xfrm>
            <a:off x="8758295" y="3226930"/>
            <a:ext cx="304500" cy="319500"/>
          </a:xfrm>
          <a:prstGeom prst="roundRect">
            <a:avLst>
              <a:gd fmla="val 16667" name="adj"/>
            </a:avLst>
          </a:prstGeom>
          <a:noFill/>
          <a:ln>
            <a:noFill/>
          </a:ln>
        </p:spPr>
      </p:pic>
      <p:sp>
        <p:nvSpPr>
          <p:cNvPr id="189" name="Google Shape;189;p21"/>
          <p:cNvSpPr txBox="1"/>
          <p:nvPr/>
        </p:nvSpPr>
        <p:spPr>
          <a:xfrm>
            <a:off x="4645300" y="660750"/>
            <a:ext cx="4417500" cy="153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rgbClr val="61705A"/>
                </a:solidFill>
                <a:latin typeface="Lexend"/>
                <a:ea typeface="Lexend"/>
                <a:cs typeface="Lexend"/>
                <a:sym typeface="Lexend"/>
              </a:rPr>
              <a:t>STEERED’s reading toolkit API allows you to </a:t>
            </a:r>
            <a:r>
              <a:rPr b="1" lang="en" sz="1300">
                <a:solidFill>
                  <a:srgbClr val="5F4F41"/>
                </a:solidFill>
                <a:highlight>
                  <a:srgbClr val="A2A879"/>
                </a:highlight>
                <a:latin typeface="Lexend"/>
                <a:ea typeface="Lexend"/>
                <a:cs typeface="Lexend"/>
                <a:sym typeface="Lexend"/>
              </a:rPr>
              <a:t>customize your experience</a:t>
            </a:r>
            <a:r>
              <a:rPr lang="en" sz="1300">
                <a:solidFill>
                  <a:srgbClr val="61705A"/>
                </a:solidFill>
                <a:latin typeface="Lexend"/>
                <a:ea typeface="Lexend"/>
                <a:cs typeface="Lexend"/>
                <a:sym typeface="Lexend"/>
              </a:rPr>
              <a:t> by managing saved books, preferences and discover in a simple and scalable way</a:t>
            </a:r>
            <a:r>
              <a:rPr lang="en" sz="1300">
                <a:solidFill>
                  <a:srgbClr val="61705A"/>
                </a:solidFill>
                <a:latin typeface="Lexend"/>
                <a:ea typeface="Lexend"/>
                <a:cs typeface="Lexend"/>
                <a:sym typeface="Lexend"/>
              </a:rPr>
              <a:t>?</a:t>
            </a:r>
            <a:endParaRPr sz="1300">
              <a:solidFill>
                <a:srgbClr val="61705A"/>
              </a:solidFill>
              <a:latin typeface="Lexend"/>
              <a:ea typeface="Lexend"/>
              <a:cs typeface="Lexend"/>
              <a:sym typeface="Lexend"/>
            </a:endParaRPr>
          </a:p>
          <a:p>
            <a:pPr indent="0" lvl="0" marL="0" rtl="0" algn="l">
              <a:spcBef>
                <a:spcPts val="1200"/>
              </a:spcBef>
              <a:spcAft>
                <a:spcPts val="0"/>
              </a:spcAft>
              <a:buNone/>
            </a:pPr>
            <a:r>
              <a:t/>
            </a:r>
            <a:endParaRPr sz="1800">
              <a:solidFill>
                <a:schemeClr val="dk2"/>
              </a:solidFill>
            </a:endParaRPr>
          </a:p>
        </p:txBody>
      </p:sp>
      <p:pic>
        <p:nvPicPr>
          <p:cNvPr id="190" name="Google Shape;190;p21"/>
          <p:cNvPicPr preferRelativeResize="0"/>
          <p:nvPr/>
        </p:nvPicPr>
        <p:blipFill>
          <a:blip r:embed="rId5">
            <a:alphaModFix/>
          </a:blip>
          <a:stretch>
            <a:fillRect/>
          </a:stretch>
        </p:blipFill>
        <p:spPr>
          <a:xfrm>
            <a:off x="106975" y="345000"/>
            <a:ext cx="4070400" cy="4453500"/>
          </a:xfrm>
          <a:prstGeom prst="roundRect">
            <a:avLst>
              <a:gd fmla="val 4678" name="adj"/>
            </a:avLst>
          </a:prstGeom>
          <a:noFill/>
          <a:ln>
            <a:noFill/>
          </a:ln>
        </p:spPr>
      </p:pic>
      <p:sp>
        <p:nvSpPr>
          <p:cNvPr id="191" name="Google Shape;191;p21"/>
          <p:cNvSpPr txBox="1"/>
          <p:nvPr/>
        </p:nvSpPr>
        <p:spPr>
          <a:xfrm>
            <a:off x="7543200" y="3762725"/>
            <a:ext cx="1507500" cy="84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300">
                <a:solidFill>
                  <a:srgbClr val="FCF5EA"/>
                </a:solidFill>
                <a:latin typeface="Lexend"/>
                <a:ea typeface="Lexend"/>
                <a:cs typeface="Lexend"/>
                <a:sym typeface="Lexend"/>
              </a:rPr>
              <a:t>An easy-to-use system that </a:t>
            </a:r>
            <a:r>
              <a:rPr b="1" lang="en" sz="1300">
                <a:solidFill>
                  <a:srgbClr val="D4AA5D"/>
                </a:solidFill>
                <a:latin typeface="Lexend"/>
                <a:ea typeface="Lexend"/>
                <a:cs typeface="Lexend"/>
                <a:sym typeface="Lexend"/>
              </a:rPr>
              <a:t>moves</a:t>
            </a:r>
            <a:r>
              <a:rPr lang="en" sz="1300">
                <a:solidFill>
                  <a:srgbClr val="FCF5EA"/>
                </a:solidFill>
                <a:latin typeface="Lexend"/>
                <a:ea typeface="Lexend"/>
                <a:cs typeface="Lexend"/>
                <a:sym typeface="Lexend"/>
              </a:rPr>
              <a:t> with you.</a:t>
            </a:r>
            <a:r>
              <a:rPr lang="en" sz="1300">
                <a:solidFill>
                  <a:srgbClr val="5F4F41"/>
                </a:solidFill>
                <a:latin typeface="Lexend"/>
                <a:ea typeface="Lexend"/>
                <a:cs typeface="Lexend"/>
                <a:sym typeface="Lexend"/>
              </a:rPr>
              <a:t> </a:t>
            </a:r>
            <a:endParaRPr>
              <a:solidFill>
                <a:srgbClr val="5F4F4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5" name="Shape 195"/>
        <p:cNvGrpSpPr/>
        <p:nvPr/>
      </p:nvGrpSpPr>
      <p:grpSpPr>
        <a:xfrm>
          <a:off x="0" y="0"/>
          <a:ext cx="0" cy="0"/>
          <a:chOff x="0" y="0"/>
          <a:chExt cx="0" cy="0"/>
        </a:xfrm>
      </p:grpSpPr>
      <p:cxnSp>
        <p:nvCxnSpPr>
          <p:cNvPr id="196" name="Google Shape;196;p22"/>
          <p:cNvCxnSpPr/>
          <p:nvPr/>
        </p:nvCxnSpPr>
        <p:spPr>
          <a:xfrm flipH="1" rot="10800000">
            <a:off x="4847350" y="4041225"/>
            <a:ext cx="1361100" cy="5700"/>
          </a:xfrm>
          <a:prstGeom prst="straightConnector1">
            <a:avLst/>
          </a:prstGeom>
          <a:noFill/>
          <a:ln cap="flat" cmpd="sng" w="28575">
            <a:solidFill>
              <a:srgbClr val="F6F1E9"/>
            </a:solidFill>
            <a:prstDash val="solid"/>
            <a:round/>
            <a:headEnd len="med" w="med" type="none"/>
            <a:tailEnd len="med" w="med" type="none"/>
          </a:ln>
        </p:spPr>
      </p:cxnSp>
      <p:sp>
        <p:nvSpPr>
          <p:cNvPr id="197" name="Google Shape;197;p22"/>
          <p:cNvSpPr/>
          <p:nvPr/>
        </p:nvSpPr>
        <p:spPr>
          <a:xfrm rot="5400000">
            <a:off x="4086700" y="-126750"/>
            <a:ext cx="612300" cy="865800"/>
          </a:xfrm>
          <a:prstGeom prst="round2SameRect">
            <a:avLst>
              <a:gd fmla="val 38021" name="adj1"/>
              <a:gd fmla="val 0" name="adj2"/>
            </a:avLst>
          </a:prstGeom>
          <a:solidFill>
            <a:schemeClr val="lt2"/>
          </a:solidFill>
          <a:ln cap="flat" cmpd="sng" w="19050">
            <a:solidFill>
              <a:schemeClr val="lt2"/>
            </a:solidFill>
            <a:prstDash val="solid"/>
            <a:round/>
            <a:headEnd len="sm" w="sm" type="none"/>
            <a:tailEnd len="sm" w="sm" type="none"/>
          </a:ln>
          <a:effectLst>
            <a:outerShdw blurRad="200025" rotWithShape="0" algn="bl" dir="7380000" dist="142875">
              <a:srgbClr val="000000">
                <a:alpha val="2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2"/>
          <p:cNvSpPr txBox="1"/>
          <p:nvPr/>
        </p:nvSpPr>
        <p:spPr>
          <a:xfrm>
            <a:off x="5074525" y="4041225"/>
            <a:ext cx="24474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500">
                <a:solidFill>
                  <a:srgbClr val="F6F1E9"/>
                </a:solidFill>
                <a:latin typeface="Lexend ExtraBold"/>
                <a:ea typeface="Lexend ExtraBold"/>
                <a:cs typeface="Lexend ExtraBold"/>
                <a:sym typeface="Lexend ExtraBold"/>
              </a:rPr>
              <a:t>STEERED.</a:t>
            </a:r>
            <a:endParaRPr sz="3500">
              <a:solidFill>
                <a:srgbClr val="F6F1E9"/>
              </a:solidFill>
              <a:latin typeface="Lexend ExtraBold"/>
              <a:ea typeface="Lexend ExtraBold"/>
              <a:cs typeface="Lexend ExtraBold"/>
              <a:sym typeface="Lexend ExtraBold"/>
            </a:endParaRPr>
          </a:p>
        </p:txBody>
      </p:sp>
      <p:pic>
        <p:nvPicPr>
          <p:cNvPr id="199" name="Google Shape;199;p22"/>
          <p:cNvPicPr preferRelativeResize="0"/>
          <p:nvPr/>
        </p:nvPicPr>
        <p:blipFill rotWithShape="1">
          <a:blip r:embed="rId4">
            <a:alphaModFix/>
          </a:blip>
          <a:srcRect b="43946" l="0" r="0" t="0"/>
          <a:stretch/>
        </p:blipFill>
        <p:spPr>
          <a:xfrm rot="3166636">
            <a:off x="3630978" y="2949434"/>
            <a:ext cx="1822372" cy="2083907"/>
          </a:xfrm>
          <a:prstGeom prst="rect">
            <a:avLst/>
          </a:prstGeom>
          <a:noFill/>
          <a:ln>
            <a:noFill/>
          </a:ln>
          <a:effectLst>
            <a:outerShdw blurRad="400050" rotWithShape="0" algn="bl" dir="18240000" dist="123825">
              <a:srgbClr val="000000">
                <a:alpha val="48000"/>
              </a:srgbClr>
            </a:outerShdw>
          </a:effectLst>
        </p:spPr>
      </p:pic>
      <p:sp>
        <p:nvSpPr>
          <p:cNvPr id="200" name="Google Shape;200;p22"/>
          <p:cNvSpPr/>
          <p:nvPr/>
        </p:nvSpPr>
        <p:spPr>
          <a:xfrm>
            <a:off x="1775" y="0"/>
            <a:ext cx="4142400" cy="5143500"/>
          </a:xfrm>
          <a:prstGeom prst="rect">
            <a:avLst/>
          </a:prstGeom>
          <a:solidFill>
            <a:schemeClr val="lt2"/>
          </a:solid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22"/>
          <p:cNvSpPr txBox="1"/>
          <p:nvPr/>
        </p:nvSpPr>
        <p:spPr>
          <a:xfrm>
            <a:off x="3846025" y="118613"/>
            <a:ext cx="859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CCAB8E"/>
                </a:solidFill>
                <a:latin typeface="Lexend"/>
                <a:ea typeface="Lexend"/>
                <a:cs typeface="Lexend"/>
                <a:sym typeface="Lexend"/>
              </a:rPr>
              <a:t>GROUP 1</a:t>
            </a:r>
            <a:endParaRPr b="1" sz="900">
              <a:solidFill>
                <a:srgbClr val="CCAB8E"/>
              </a:solidFill>
              <a:latin typeface="Lexend"/>
              <a:ea typeface="Lexend"/>
              <a:cs typeface="Lexend"/>
              <a:sym typeface="Lexend"/>
            </a:endParaRPr>
          </a:p>
        </p:txBody>
      </p:sp>
      <p:sp>
        <p:nvSpPr>
          <p:cNvPr id="202" name="Google Shape;202;p22"/>
          <p:cNvSpPr txBox="1"/>
          <p:nvPr/>
        </p:nvSpPr>
        <p:spPr>
          <a:xfrm>
            <a:off x="200100" y="4198975"/>
            <a:ext cx="1452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DABEA6"/>
                </a:solidFill>
                <a:latin typeface="Lexend"/>
                <a:ea typeface="Lexend"/>
                <a:cs typeface="Lexend"/>
                <a:sym typeface="Lexend"/>
              </a:rPr>
              <a:t>PRESENTED BY:</a:t>
            </a:r>
            <a:endParaRPr b="1" sz="900">
              <a:solidFill>
                <a:srgbClr val="DABEA6"/>
              </a:solidFill>
              <a:latin typeface="Lexend"/>
              <a:ea typeface="Lexend"/>
              <a:cs typeface="Lexend"/>
              <a:sym typeface="Lexend"/>
            </a:endParaRPr>
          </a:p>
        </p:txBody>
      </p:sp>
      <p:sp>
        <p:nvSpPr>
          <p:cNvPr id="203" name="Google Shape;203;p22"/>
          <p:cNvSpPr txBox="1"/>
          <p:nvPr/>
        </p:nvSpPr>
        <p:spPr>
          <a:xfrm>
            <a:off x="922750" y="4764525"/>
            <a:ext cx="216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CCAB8E"/>
                </a:solidFill>
                <a:latin typeface="Lexend"/>
                <a:ea typeface="Lexend"/>
                <a:cs typeface="Lexend"/>
                <a:sym typeface="Lexend"/>
              </a:rPr>
              <a:t>FEB 16, 2026 - MAY 3, 2026</a:t>
            </a:r>
            <a:endParaRPr b="1" sz="900">
              <a:solidFill>
                <a:srgbClr val="CCAB8E"/>
              </a:solidFill>
              <a:latin typeface="Lexend"/>
              <a:ea typeface="Lexend"/>
              <a:cs typeface="Lexend"/>
              <a:sym typeface="Lexend"/>
            </a:endParaRPr>
          </a:p>
        </p:txBody>
      </p:sp>
      <p:grpSp>
        <p:nvGrpSpPr>
          <p:cNvPr id="204" name="Google Shape;204;p22"/>
          <p:cNvGrpSpPr/>
          <p:nvPr/>
        </p:nvGrpSpPr>
        <p:grpSpPr>
          <a:xfrm>
            <a:off x="146006" y="197524"/>
            <a:ext cx="647597" cy="196200"/>
            <a:chOff x="146006" y="197524"/>
            <a:chExt cx="647597" cy="196200"/>
          </a:xfrm>
        </p:grpSpPr>
        <p:sp>
          <p:nvSpPr>
            <p:cNvPr id="205" name="Google Shape;205;p22"/>
            <p:cNvSpPr/>
            <p:nvPr/>
          </p:nvSpPr>
          <p:spPr>
            <a:xfrm rot="5400000">
              <a:off x="369988" y="197524"/>
              <a:ext cx="196200" cy="196200"/>
            </a:xfrm>
            <a:prstGeom prst="ellipse">
              <a:avLst/>
            </a:prstGeom>
            <a:solidFill>
              <a:srgbClr val="AA8E76"/>
            </a:solidFill>
            <a:ln cap="flat" cmpd="sng" w="14350">
              <a:solidFill>
                <a:srgbClr val="5F4F41"/>
              </a:solidFill>
              <a:prstDash val="solid"/>
              <a:round/>
              <a:headEnd len="sm" w="sm" type="none"/>
              <a:tailEnd len="sm" w="sm" type="none"/>
            </a:ln>
          </p:spPr>
          <p:txBody>
            <a:bodyPr anchorCtr="0" anchor="ctr" bIns="17900" lIns="17900" spcFirstLastPara="1" rIns="17900" wrap="square" tIns="17900">
              <a:noAutofit/>
            </a:bodyPr>
            <a:lstStyle/>
            <a:p>
              <a:pPr indent="0" lvl="0" marL="0" rtl="0" algn="ctr">
                <a:spcBef>
                  <a:spcPts val="0"/>
                </a:spcBef>
                <a:spcAft>
                  <a:spcPts val="0"/>
                </a:spcAft>
                <a:buNone/>
              </a:pPr>
              <a:r>
                <a:t/>
              </a:r>
              <a:endParaRPr sz="274"/>
            </a:p>
          </p:txBody>
        </p:sp>
        <p:sp>
          <p:nvSpPr>
            <p:cNvPr id="206" name="Google Shape;206;p22"/>
            <p:cNvSpPr/>
            <p:nvPr/>
          </p:nvSpPr>
          <p:spPr>
            <a:xfrm rot="5400000">
              <a:off x="146006" y="197524"/>
              <a:ext cx="196200" cy="196200"/>
            </a:xfrm>
            <a:prstGeom prst="ellipse">
              <a:avLst/>
            </a:prstGeom>
            <a:solidFill>
              <a:srgbClr val="85997C"/>
            </a:solidFill>
            <a:ln cap="flat" cmpd="sng" w="14350">
              <a:solidFill>
                <a:srgbClr val="5F4F41"/>
              </a:solidFill>
              <a:prstDash val="solid"/>
              <a:round/>
              <a:headEnd len="sm" w="sm" type="none"/>
              <a:tailEnd len="sm" w="sm" type="none"/>
            </a:ln>
          </p:spPr>
          <p:txBody>
            <a:bodyPr anchorCtr="0" anchor="ctr" bIns="17900" lIns="17900" spcFirstLastPara="1" rIns="17900" wrap="square" tIns="17900">
              <a:noAutofit/>
            </a:bodyPr>
            <a:lstStyle/>
            <a:p>
              <a:pPr indent="0" lvl="0" marL="0" rtl="0" algn="ctr">
                <a:spcBef>
                  <a:spcPts val="0"/>
                </a:spcBef>
                <a:spcAft>
                  <a:spcPts val="0"/>
                </a:spcAft>
                <a:buNone/>
              </a:pPr>
              <a:r>
                <a:t/>
              </a:r>
              <a:endParaRPr sz="274"/>
            </a:p>
          </p:txBody>
        </p:sp>
        <p:sp>
          <p:nvSpPr>
            <p:cNvPr id="207" name="Google Shape;207;p22"/>
            <p:cNvSpPr/>
            <p:nvPr/>
          </p:nvSpPr>
          <p:spPr>
            <a:xfrm rot="5400000">
              <a:off x="597403" y="197524"/>
              <a:ext cx="196200" cy="196200"/>
            </a:xfrm>
            <a:prstGeom prst="ellipse">
              <a:avLst/>
            </a:prstGeom>
            <a:solidFill>
              <a:srgbClr val="DABEA6"/>
            </a:solidFill>
            <a:ln cap="flat" cmpd="sng" w="14350">
              <a:solidFill>
                <a:srgbClr val="5F4F41"/>
              </a:solidFill>
              <a:prstDash val="solid"/>
              <a:round/>
              <a:headEnd len="sm" w="sm" type="none"/>
              <a:tailEnd len="sm" w="sm" type="none"/>
            </a:ln>
          </p:spPr>
          <p:txBody>
            <a:bodyPr anchorCtr="0" anchor="ctr" bIns="17900" lIns="17900" spcFirstLastPara="1" rIns="17900" wrap="square" tIns="17900">
              <a:noAutofit/>
            </a:bodyPr>
            <a:lstStyle/>
            <a:p>
              <a:pPr indent="0" lvl="0" marL="0" rtl="0" algn="ctr">
                <a:spcBef>
                  <a:spcPts val="0"/>
                </a:spcBef>
                <a:spcAft>
                  <a:spcPts val="0"/>
                </a:spcAft>
                <a:buNone/>
              </a:pPr>
              <a:r>
                <a:t/>
              </a:r>
              <a:endParaRPr sz="274"/>
            </a:p>
          </p:txBody>
        </p:sp>
      </p:grpSp>
      <p:sp>
        <p:nvSpPr>
          <p:cNvPr id="208" name="Google Shape;208;p22"/>
          <p:cNvSpPr/>
          <p:nvPr/>
        </p:nvSpPr>
        <p:spPr>
          <a:xfrm>
            <a:off x="6121700" y="3932550"/>
            <a:ext cx="196200" cy="196200"/>
          </a:xfrm>
          <a:prstGeom prst="ellipse">
            <a:avLst/>
          </a:prstGeom>
          <a:solidFill>
            <a:srgbClr val="F6F1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3DDD9"/>
              </a:solidFill>
            </a:endParaRPr>
          </a:p>
        </p:txBody>
      </p:sp>
      <p:grpSp>
        <p:nvGrpSpPr>
          <p:cNvPr id="209" name="Google Shape;209;p22"/>
          <p:cNvGrpSpPr/>
          <p:nvPr/>
        </p:nvGrpSpPr>
        <p:grpSpPr>
          <a:xfrm>
            <a:off x="3897925" y="2277775"/>
            <a:ext cx="674100" cy="668400"/>
            <a:chOff x="3897925" y="2265075"/>
            <a:chExt cx="674100" cy="668400"/>
          </a:xfrm>
        </p:grpSpPr>
        <p:sp>
          <p:nvSpPr>
            <p:cNvPr id="210" name="Google Shape;210;p22"/>
            <p:cNvSpPr/>
            <p:nvPr/>
          </p:nvSpPr>
          <p:spPr>
            <a:xfrm>
              <a:off x="3897925" y="2265075"/>
              <a:ext cx="674100" cy="668400"/>
            </a:xfrm>
            <a:prstGeom prst="ellipse">
              <a:avLst/>
            </a:prstGeom>
            <a:solidFill>
              <a:srgbClr val="61705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3DDD9"/>
                </a:solidFill>
              </a:endParaRPr>
            </a:p>
          </p:txBody>
        </p:sp>
        <p:sp>
          <p:nvSpPr>
            <p:cNvPr id="211" name="Google Shape;211;p22"/>
            <p:cNvSpPr/>
            <p:nvPr/>
          </p:nvSpPr>
          <p:spPr>
            <a:xfrm flipH="1" rot="5400000">
              <a:off x="4138825" y="2506725"/>
              <a:ext cx="273600" cy="185100"/>
            </a:xfrm>
            <a:prstGeom prst="triangle">
              <a:avLst>
                <a:gd fmla="val 50000" name="adj"/>
              </a:avLst>
            </a:prstGeom>
            <a:solidFill>
              <a:srgbClr val="AA8E7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2" name="Google Shape;212;p22"/>
          <p:cNvSpPr txBox="1"/>
          <p:nvPr/>
        </p:nvSpPr>
        <p:spPr>
          <a:xfrm>
            <a:off x="4949800" y="2779650"/>
            <a:ext cx="345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6F1E9"/>
                </a:solidFill>
                <a:latin typeface="Lexend Light"/>
                <a:ea typeface="Lexend Light"/>
                <a:cs typeface="Lexend Light"/>
                <a:sym typeface="Lexend Light"/>
              </a:rPr>
              <a:t>“We’ll take the wheel on this one.”</a:t>
            </a:r>
            <a:endParaRPr>
              <a:solidFill>
                <a:srgbClr val="F6F1E9"/>
              </a:solidFill>
              <a:latin typeface="Lexend Light"/>
              <a:ea typeface="Lexend Light"/>
              <a:cs typeface="Lexend Light"/>
              <a:sym typeface="Lexend Light"/>
            </a:endParaRPr>
          </a:p>
        </p:txBody>
      </p:sp>
      <p:sp>
        <p:nvSpPr>
          <p:cNvPr id="213" name="Google Shape;213;p22"/>
          <p:cNvSpPr txBox="1"/>
          <p:nvPr/>
        </p:nvSpPr>
        <p:spPr>
          <a:xfrm>
            <a:off x="134725" y="4469525"/>
            <a:ext cx="3711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85997C"/>
                </a:solidFill>
                <a:latin typeface="Lexend"/>
                <a:ea typeface="Lexend"/>
                <a:cs typeface="Lexend"/>
                <a:sym typeface="Lexend"/>
              </a:rPr>
              <a:t>damian d. </a:t>
            </a:r>
            <a:r>
              <a:rPr lang="en" sz="1200">
                <a:solidFill>
                  <a:srgbClr val="61705A"/>
                </a:solidFill>
                <a:latin typeface="Lexend"/>
                <a:ea typeface="Lexend"/>
                <a:cs typeface="Lexend"/>
                <a:sym typeface="Lexend"/>
              </a:rPr>
              <a:t> |</a:t>
            </a:r>
            <a:r>
              <a:rPr lang="en" sz="1200">
                <a:solidFill>
                  <a:srgbClr val="85997C"/>
                </a:solidFill>
                <a:latin typeface="Lexend"/>
                <a:ea typeface="Lexend"/>
                <a:cs typeface="Lexend"/>
                <a:sym typeface="Lexend"/>
              </a:rPr>
              <a:t>  laila s. </a:t>
            </a:r>
            <a:r>
              <a:rPr lang="en" sz="1200">
                <a:solidFill>
                  <a:srgbClr val="61705A"/>
                </a:solidFill>
                <a:latin typeface="Lexend"/>
                <a:ea typeface="Lexend"/>
                <a:cs typeface="Lexend"/>
                <a:sym typeface="Lexend"/>
              </a:rPr>
              <a:t> |</a:t>
            </a:r>
            <a:r>
              <a:rPr lang="en" sz="1200">
                <a:solidFill>
                  <a:srgbClr val="85997C"/>
                </a:solidFill>
                <a:latin typeface="Lexend"/>
                <a:ea typeface="Lexend"/>
                <a:cs typeface="Lexend"/>
                <a:sym typeface="Lexend"/>
              </a:rPr>
              <a:t>  sejiro k.  </a:t>
            </a:r>
            <a:r>
              <a:rPr lang="en" sz="1200">
                <a:solidFill>
                  <a:srgbClr val="61705A"/>
                </a:solidFill>
                <a:latin typeface="Lexend"/>
                <a:ea typeface="Lexend"/>
                <a:cs typeface="Lexend"/>
                <a:sym typeface="Lexend"/>
              </a:rPr>
              <a:t>|</a:t>
            </a:r>
            <a:r>
              <a:rPr lang="en" sz="1200">
                <a:solidFill>
                  <a:srgbClr val="85997C"/>
                </a:solidFill>
                <a:latin typeface="Lexend"/>
                <a:ea typeface="Lexend"/>
                <a:cs typeface="Lexend"/>
                <a:sym typeface="Lexend"/>
              </a:rPr>
              <a:t> shane j.</a:t>
            </a:r>
            <a:endParaRPr sz="1200">
              <a:solidFill>
                <a:srgbClr val="85997C"/>
              </a:solidFill>
              <a:latin typeface="Lexend"/>
              <a:ea typeface="Lexend"/>
              <a:cs typeface="Lexend"/>
              <a:sym typeface="Lexend"/>
            </a:endParaRPr>
          </a:p>
        </p:txBody>
      </p:sp>
      <p:sp>
        <p:nvSpPr>
          <p:cNvPr id="214" name="Google Shape;214;p22"/>
          <p:cNvSpPr txBox="1"/>
          <p:nvPr/>
        </p:nvSpPr>
        <p:spPr>
          <a:xfrm>
            <a:off x="277000" y="1033500"/>
            <a:ext cx="345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latin typeface="Lexend"/>
                <a:ea typeface="Lexend"/>
                <a:cs typeface="Lexend"/>
                <a:sym typeface="Lexend"/>
              </a:rPr>
              <a:t>QUESTIONS ARE WELCOME</a:t>
            </a:r>
            <a:endParaRPr b="1" sz="1800">
              <a:solidFill>
                <a:schemeClr val="dk2"/>
              </a:solidFill>
              <a:latin typeface="Lexend"/>
              <a:ea typeface="Lexend"/>
              <a:cs typeface="Lexend"/>
              <a:sym typeface="Lexend"/>
            </a:endParaRPr>
          </a:p>
        </p:txBody>
      </p:sp>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600" fill="hold"/>
                                        <p:tgtEl>
                                          <p:spTgt spid="209"/>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